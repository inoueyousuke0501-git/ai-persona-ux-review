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e536ec062640b7" /><Relationship Type="http://schemas.openxmlformats.org/officeDocument/2006/relationships/extended-properties" Target="/docProps/app.xml" Id="R1a7ef0b68fa140f6" /><Relationship Type="http://schemas.openxmlformats.org/officeDocument/2006/relationships/officeDocument" Target="/ppt/presentation.xml" Id="R39f931ebdfb849a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12327ce885a40e3"/>
  </p:sldMasterIdLst>
  <p:notesMasterIdLst>
    <p:notesMasterId xmlns:r="http://schemas.openxmlformats.org/officeDocument/2006/relationships" r:id="R1e71c66f0b864e54"/>
  </p:notesMasterIdLst>
  <p:sldIdLst>
    <p:sldId xmlns:r="http://schemas.openxmlformats.org/officeDocument/2006/relationships" id="256" r:id="Rff6bfa0dce5d4670"/>
    <p:sldId xmlns:r="http://schemas.openxmlformats.org/officeDocument/2006/relationships" id="257" r:id="R9267c2324d104a0c"/>
    <p:sldId xmlns:r="http://schemas.openxmlformats.org/officeDocument/2006/relationships" id="258" r:id="R74d537af7f4144a4"/>
    <p:sldId xmlns:r="http://schemas.openxmlformats.org/officeDocument/2006/relationships" id="259" r:id="R0410313bef3c425d"/>
    <p:sldId xmlns:r="http://schemas.openxmlformats.org/officeDocument/2006/relationships" id="260" r:id="R9ab441b7227e478d"/>
    <p:sldId xmlns:r="http://schemas.openxmlformats.org/officeDocument/2006/relationships" id="261" r:id="R663c998c1d624f72"/>
    <p:sldId xmlns:r="http://schemas.openxmlformats.org/officeDocument/2006/relationships" id="262" r:id="R8f26e46744bf4d7a"/>
    <p:sldId xmlns:r="http://schemas.openxmlformats.org/officeDocument/2006/relationships" id="263" r:id="Rd5e57fe91bf44e50"/>
    <p:sldId xmlns:r="http://schemas.openxmlformats.org/officeDocument/2006/relationships" id="264" r:id="Re2d9b6af562747d8"/>
    <p:sldId xmlns:r="http://schemas.openxmlformats.org/officeDocument/2006/relationships" id="265" r:id="R1217d380aff14592"/>
    <p:sldId xmlns:r="http://schemas.openxmlformats.org/officeDocument/2006/relationships" id="266" r:id="Rc29f5e6f83aa418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2327ce885a40e3" /><Relationship Type="http://schemas.openxmlformats.org/officeDocument/2006/relationships/theme" Target="/ppt/theme/theme1.xml" Id="R8366a83bcf8a41d7" /><Relationship Type="http://schemas.openxmlformats.org/officeDocument/2006/relationships/notesMaster" Target="/ppt/notesMasters/notesMaster1.xml" Id="R1e71c66f0b864e54" /><Relationship Type="http://schemas.openxmlformats.org/officeDocument/2006/relationships/presProps" Target="/ppt/presProps.xml" Id="Re94d235d73f14f91" /><Relationship Type="http://schemas.openxmlformats.org/officeDocument/2006/relationships/viewProps" Target="/ppt/viewProps.xml" Id="R62d54c0350c644c5" /><Relationship Type="http://schemas.openxmlformats.org/officeDocument/2006/relationships/tableStyles" Target="/ppt/tableStyles.xml" Id="R6b7c3f5bf19d4db7" /><Relationship Type="http://schemas.openxmlformats.org/officeDocument/2006/relationships/slide" Target="/ppt/slides/slide1.xml" Id="Rff6bfa0dce5d4670" /><Relationship Type="http://schemas.openxmlformats.org/officeDocument/2006/relationships/slide" Target="/ppt/slides/slide2.xml" Id="R9267c2324d104a0c" /><Relationship Type="http://schemas.openxmlformats.org/officeDocument/2006/relationships/slide" Target="/ppt/slides/slide3.xml" Id="R74d537af7f4144a4" /><Relationship Type="http://schemas.openxmlformats.org/officeDocument/2006/relationships/slide" Target="/ppt/slides/slide4.xml" Id="R0410313bef3c425d" /><Relationship Type="http://schemas.openxmlformats.org/officeDocument/2006/relationships/slide" Target="/ppt/slides/slide5.xml" Id="R9ab441b7227e478d" /><Relationship Type="http://schemas.openxmlformats.org/officeDocument/2006/relationships/slide" Target="/ppt/slides/slide6.xml" Id="R663c998c1d624f72" /><Relationship Type="http://schemas.openxmlformats.org/officeDocument/2006/relationships/slide" Target="/ppt/slides/slide7.xml" Id="R8f26e46744bf4d7a" /><Relationship Type="http://schemas.openxmlformats.org/officeDocument/2006/relationships/slide" Target="/ppt/slides/slide8.xml" Id="Rd5e57fe91bf44e50" /><Relationship Type="http://schemas.openxmlformats.org/officeDocument/2006/relationships/slide" Target="/ppt/slides/slide9.xml" Id="Re2d9b6af562747d8" /><Relationship Type="http://schemas.openxmlformats.org/officeDocument/2006/relationships/slide" Target="/ppt/slides/slide10.xml" Id="R1217d380aff14592" /><Relationship Type="http://schemas.openxmlformats.org/officeDocument/2006/relationships/slide" Target="/ppt/slides/slide11.xml" Id="Rc29f5e6f83aa418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05fc6089d4b405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6ab8e807722445d" /><Relationship Type="http://schemas.openxmlformats.org/officeDocument/2006/relationships/notesMaster" Target="/ppt/notesMasters/notesMaster1.xml" Id="Ra2f5719e3e944ad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62bc22bdb2e4960" /><Relationship Type="http://schemas.openxmlformats.org/officeDocument/2006/relationships/notesMaster" Target="/ppt/notesMasters/notesMaster1.xml" Id="Rfeb0c891216b403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a3c43910d7e4fa8" /><Relationship Type="http://schemas.openxmlformats.org/officeDocument/2006/relationships/notesMaster" Target="/ppt/notesMasters/notesMaster1.xml" Id="Rfac39798544a4c2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04022dcc0b14dba" /><Relationship Type="http://schemas.openxmlformats.org/officeDocument/2006/relationships/notesMaster" Target="/ppt/notesMasters/notesMaster1.xml" Id="R543bc7ef2c2e4f3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a29692530e64b83" /><Relationship Type="http://schemas.openxmlformats.org/officeDocument/2006/relationships/notesMaster" Target="/ppt/notesMasters/notesMaster1.xml" Id="Rc62ef68c55d642e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a760dc92bc84297" /><Relationship Type="http://schemas.openxmlformats.org/officeDocument/2006/relationships/notesMaster" Target="/ppt/notesMasters/notesMaster1.xml" Id="Racc23f5c5fe544d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ce0e16a2e174e0d" /><Relationship Type="http://schemas.openxmlformats.org/officeDocument/2006/relationships/notesMaster" Target="/ppt/notesMasters/notesMaster1.xml" Id="R460425e42fc8433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c1274f4a23c4abc" /><Relationship Type="http://schemas.openxmlformats.org/officeDocument/2006/relationships/notesMaster" Target="/ppt/notesMasters/notesMaster1.xml" Id="R3c2e00ec3cba4f0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4bd4c3932ab4e30" /><Relationship Type="http://schemas.openxmlformats.org/officeDocument/2006/relationships/notesMaster" Target="/ppt/notesMasters/notesMaster1.xml" Id="R896c36fda48d415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894755ef84141f2" /><Relationship Type="http://schemas.openxmlformats.org/officeDocument/2006/relationships/notesMaster" Target="/ppt/notesMasters/notesMaster1.xml" Id="R002c5cdd23304db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23b79200af0449f" /><Relationship Type="http://schemas.openxmlformats.org/officeDocument/2006/relationships/notesMaster" Target="/ppt/notesMasters/notesMaster1.xml" Id="Rad6a9b24abc74e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ead504241f42b4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e5dd3067856244a4" /><Relationship Type="http://schemas.openxmlformats.org/officeDocument/2006/relationships/slideLayout" Target="/ppt/slideLayouts/slideLayout2.xml" Id="R9ac1783a654d458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ac1783a654d458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0587af704d4b92" /><Relationship Type="http://schemas.openxmlformats.org/officeDocument/2006/relationships/notesSlide" Target="/ppt/notesSlides/notesSlide1.xml" Id="R1800a03da2d34e8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6bbc15d71b4dc2" /><Relationship Type="http://schemas.openxmlformats.org/officeDocument/2006/relationships/notesSlide" Target="/ppt/notesSlides/notesSlide2.xml" Id="Re80daf2e84c343f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6aeacbcfea4025" /><Relationship Type="http://schemas.openxmlformats.org/officeDocument/2006/relationships/notesSlide" Target="/ppt/notesSlides/notesSlide3.xml" Id="R6867581c44534d9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f230851e324df4" /><Relationship Type="http://schemas.openxmlformats.org/officeDocument/2006/relationships/notesSlide" Target="/ppt/notesSlides/notesSlide4.xml" Id="R2149295d4d214af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f185c5fc584f7f" /><Relationship Type="http://schemas.openxmlformats.org/officeDocument/2006/relationships/notesSlide" Target="/ppt/notesSlides/notesSlide5.xml" Id="Re4205de131904a9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22914df8494021" /><Relationship Type="http://schemas.openxmlformats.org/officeDocument/2006/relationships/notesSlide" Target="/ppt/notesSlides/notesSlide6.xml" Id="Rc4d5c7ac3d644c3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6980d7c26146d9" /><Relationship Type="http://schemas.openxmlformats.org/officeDocument/2006/relationships/notesSlide" Target="/ppt/notesSlides/notesSlide7.xml" Id="R679a693c61bd428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fec9680d46478b" /><Relationship Type="http://schemas.openxmlformats.org/officeDocument/2006/relationships/notesSlide" Target="/ppt/notesSlides/notesSlide8.xml" Id="Rf9a998a3ee36438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306ca35e994e39" /><Relationship Type="http://schemas.openxmlformats.org/officeDocument/2006/relationships/notesSlide" Target="/ppt/notesSlides/notesSlide9.xml" Id="Rb3f3a40a780b4bb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b91c30505943f8" /><Relationship Type="http://schemas.openxmlformats.org/officeDocument/2006/relationships/notesSlide" Target="/ppt/notesSlides/notesSlide10.xml" Id="R7f59dab6c74045b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516f4f67dd54fc3" /><Relationship Type="http://schemas.openxmlformats.org/officeDocument/2006/relationships/notesSlide" Target="/ppt/notesSlides/notesSlide11.xml" Id="Rc39df60c92204e6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DF1D66-D907-4442-B4C5-EB7F36A29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0D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5C3E79-2901-4EDA-9305-12438B804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100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A100FF"/>
                </a:solidFill>
                <a:latin typeface="Aptos"/>
                <a:ea typeface="Aptos"/>
                <a:cs typeface="Aptos"/>
              </a:rPr>
              <a:t>Pattern A / Thought leadership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C33241-EAAD-451D-858A-45AAC3B29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70008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UI/UX判断にも、</a:t>
            </a:r>
          </a:p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“調査前の検証層”が必要になる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D9B319-1306-483E-B924-1328EA89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95600"/>
            <a:ext cx="590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7D7D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7D7D7"/>
                </a:solidFill>
                <a:latin typeface="Aptos"/>
                <a:ea typeface="Aptos"/>
                <a:cs typeface="Aptos"/>
              </a:rPr>
              <a:t>ユーザー調査は最終確認として重要。一方で、日々のUI改善やキャンペーン検討では、調査前に論点を作る仕組みが不足している。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408C1D-D030-41B7-AA1C-B41542A4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781050"/>
            <a:ext cx="3143250" cy="434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818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1BAD19-38BB-48D8-A0AC-F5C118177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18110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Issue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443598-1565-4274-BD76-5398BE9B3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752600"/>
            <a:ext cx="438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100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A100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2A5E97-098E-464B-90B8-1730190BF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7526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社内感覚に依存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9F4A35-0E28-4FC3-BEF3-3498AE612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38350"/>
            <a:ext cx="1952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D7D7D7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D7D7D7"/>
                </a:solidFill>
                <a:latin typeface="Aptos"/>
                <a:ea typeface="Aptos"/>
                <a:cs typeface="Aptos"/>
              </a:rPr>
              <a:t>誰の経験値を採用するかで結論が揺れる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FB949A-A81A-4E13-A5D8-05B0DFCFB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743200"/>
            <a:ext cx="438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100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A100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190D7-C5FD-4598-AC84-3F0994D96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7432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調査が重い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47D0FD-CD46-4F6B-A4AA-7A6F2AF96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28950"/>
            <a:ext cx="1952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D7D7D7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D7D7D7"/>
                </a:solidFill>
                <a:latin typeface="Aptos"/>
                <a:ea typeface="Aptos"/>
                <a:cs typeface="Aptos"/>
              </a:rPr>
              <a:t>対象者集め・設問設計・日程調整に時間がかかる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03B292-5CA1-4640-9878-BDE9F1CE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33800"/>
            <a:ext cx="438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100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A100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448CBC-3B1F-40C6-B0A5-5888B17C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7338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論点が粗い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F5CC64-6BDC-4D4F-89D2-EC9DB06BB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19550"/>
            <a:ext cx="1952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D7D7D7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D7D7D7"/>
                </a:solidFill>
                <a:latin typeface="Aptos"/>
                <a:ea typeface="Aptos"/>
                <a:cs typeface="Aptos"/>
              </a:rPr>
              <a:t>何を検証すべきかが曖昧なままレビューに進む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179579-3A48-427D-BA8A-7B77C5DDF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57700"/>
            <a:ext cx="6286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1AEA8F-6B28-4E69-B3B5-4DFE6CC33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24400"/>
            <a:ext cx="5572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D0D0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D0D0D"/>
                </a:solidFill>
                <a:latin typeface="Aptos"/>
                <a:ea typeface="Aptos"/>
                <a:cs typeface="Aptos"/>
              </a:rPr>
              <a:t>提案: AIペルソナを“調査代替”ではなく、</a:t>
            </a:r>
          </a:p>
          <a:p xmlns:a="http://schemas.openxmlformats.org/drawingml/2006/main">
            <a:pPr algn="l">
              <a:defRPr sz="1575" b="1">
                <a:solidFill>
                  <a:srgbClr val="0D0D0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D0D0D"/>
                </a:solidFill>
                <a:latin typeface="Aptos"/>
                <a:ea typeface="Aptos"/>
                <a:cs typeface="Aptos"/>
              </a:rPr>
              <a:t>調査前の仮説生成エンジンとして使う。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A59932-D933-4238-B8B9-3072CED1F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4365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8A8A8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8A8A8A"/>
                </a:solidFill>
                <a:latin typeface="Aptos"/>
                <a:ea typeface="Aptos"/>
                <a:cs typeface="Aptos"/>
              </a:rPr>
              <a:t>Reference grammar: Accenture-style executive thought leadership</a:t>
            </a:r>
          </a:p>
        </p:txBody>
      </p:sp>
    </p:spTree>
    <p:extLst>
      <p:ext uri="{BB962C8B-B14F-4D97-AF65-F5344CB8AC3E}">
        <p14:creationId xmlns:p14="http://schemas.microsoft.com/office/powerpoint/2010/main" val="147819990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505844-3F58-49A9-9961-550642320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602245-CF66-4B5F-BEEB-D9F414E73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2762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100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A100FF"/>
                </a:solidFill>
                <a:latin typeface="Aptos"/>
                <a:ea typeface="Aptos"/>
                <a:cs typeface="Aptos"/>
              </a:rPr>
              <a:t>Pattern A / MVP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D0E2B2-C632-4A68-A2CE-F8E23C3A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8200"/>
            <a:ext cx="7620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D0D0D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D0D0D"/>
                </a:solidFill>
                <a:latin typeface="Aptos"/>
                <a:ea typeface="Aptos"/>
                <a:cs typeface="Aptos"/>
              </a:rPr>
              <a:t>銀行IB利用者を母集団に、評価軸ごとにA/B案を読む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A44D49-F803-4C03-93F6-4EE125C5F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66900"/>
            <a:ext cx="647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5D5D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5D5D"/>
                </a:solidFill>
                <a:latin typeface="Aptos"/>
                <a:ea typeface="Aptos"/>
                <a:cs typeface="Aptos"/>
              </a:rPr>
              <a:t>勝敗ではなく、目的別の強弱を出す。平均年齢50歳前後の銀行インターネットバンキング利用者20人で、実利用に近い違和感を抽出する。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A9A287-E885-4B6E-BD14-24211DDAC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95600"/>
            <a:ext cx="3143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2B1CC9-40A8-440F-9054-FC7ECE158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95600"/>
            <a:ext cx="3143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784171-B164-40CE-AD69-72477DE4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95650"/>
            <a:ext cx="238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D0D0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D0D0D"/>
                </a:solidFill>
                <a:latin typeface="Aptos"/>
                <a:ea typeface="Aptos"/>
                <a:cs typeface="Aptos"/>
              </a:rPr>
              <a:t>Population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988F02-1734-4E38-BFE8-249DC3087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29050"/>
            <a:ext cx="238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5D5D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D5D5D"/>
                </a:solidFill>
                <a:latin typeface="Aptos"/>
                <a:ea typeface="Aptos"/>
                <a:cs typeface="Aptos"/>
              </a:rPr>
              <a:t>銀行IB利用者20人</a:t>
            </a:r>
          </a:p>
          <a:p xmlns:a="http://schemas.openxmlformats.org/drawingml/2006/main">
            <a:pPr algn="l">
              <a:defRPr sz="1425" b="0">
                <a:solidFill>
                  <a:srgbClr val="5D5D5D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D5D5D"/>
                </a:solidFill>
                <a:latin typeface="Aptos"/>
                <a:ea typeface="Aptos"/>
                <a:cs typeface="Aptos"/>
              </a:rPr>
              <a:t>20代から70代まで</a:t>
            </a:r>
          </a:p>
          <a:p xmlns:a="http://schemas.openxmlformats.org/drawingml/2006/main">
            <a:pPr algn="l">
              <a:defRPr sz="1425" b="0">
                <a:solidFill>
                  <a:srgbClr val="5D5D5D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D5D5D"/>
                </a:solidFill>
                <a:latin typeface="Aptos"/>
                <a:ea typeface="Aptos"/>
                <a:cs typeface="Aptos"/>
              </a:rPr>
              <a:t>平均年齢50歳前後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9FBCA3-11A3-43C4-B3F7-A79866A92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95600"/>
            <a:ext cx="3143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0D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E003CB-4D28-48E7-ABD8-0EADC037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95600"/>
            <a:ext cx="3143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100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9BCDC9-579F-47C5-9CF6-83B6C8268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95650"/>
            <a:ext cx="238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Axes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D3AD3B-6FB8-4C80-A9E4-55C8D6450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29050"/>
            <a:ext cx="238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E8E8E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E8E8E8"/>
                </a:solidFill>
                <a:latin typeface="Aptos"/>
                <a:ea typeface="Aptos"/>
                <a:cs typeface="Aptos"/>
              </a:rPr>
              <a:t>毎日使いたいか</a:t>
            </a:r>
          </a:p>
          <a:p xmlns:a="http://schemas.openxmlformats.org/drawingml/2006/main">
            <a:pPr algn="l">
              <a:defRPr sz="1425" b="0">
                <a:solidFill>
                  <a:srgbClr val="E8E8E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E8E8E8"/>
                </a:solidFill>
                <a:latin typeface="Aptos"/>
                <a:ea typeface="Aptos"/>
                <a:cs typeface="Aptos"/>
              </a:rPr>
              <a:t>毎月確認したいか</a:t>
            </a:r>
          </a:p>
          <a:p xmlns:a="http://schemas.openxmlformats.org/drawingml/2006/main">
            <a:pPr algn="l">
              <a:defRPr sz="1425" b="0">
                <a:solidFill>
                  <a:srgbClr val="E8E8E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E8E8E8"/>
                </a:solidFill>
                <a:latin typeface="Aptos"/>
                <a:ea typeface="Aptos"/>
                <a:cs typeface="Aptos"/>
              </a:rPr>
              <a:t>安心して見られるか</a:t>
            </a:r>
          </a:p>
          <a:p xmlns:a="http://schemas.openxmlformats.org/drawingml/2006/main">
            <a:pPr algn="l">
              <a:defRPr sz="1425" b="0">
                <a:solidFill>
                  <a:srgbClr val="E8E8E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E8E8E8"/>
                </a:solidFill>
                <a:latin typeface="Aptos"/>
                <a:ea typeface="Aptos"/>
                <a:cs typeface="Aptos"/>
              </a:rPr>
              <a:t>迷わず確認できるか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8125D2-F600-41A4-8646-3A88BC8B1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895600"/>
            <a:ext cx="3143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B62911-7B43-403A-92A1-9E5E78BF0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895600"/>
            <a:ext cx="3143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3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CED00D-48D6-4F1E-B2DB-5A80779B2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295650"/>
            <a:ext cx="238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D0D0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D0D0D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8BF7C7-1AC3-4C88-A0FF-B7FA8E088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829050"/>
            <a:ext cx="238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5D5D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D5D5D"/>
                </a:solidFill>
                <a:latin typeface="Aptos"/>
                <a:ea typeface="Aptos"/>
                <a:cs typeface="Aptos"/>
              </a:rPr>
              <a:t>目的別スコア</a:t>
            </a:r>
          </a:p>
          <a:p xmlns:a="http://schemas.openxmlformats.org/drawingml/2006/main">
            <a:pPr algn="l">
              <a:defRPr sz="1425" b="0">
                <a:solidFill>
                  <a:srgbClr val="5D5D5D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D5D5D"/>
                </a:solidFill>
                <a:latin typeface="Aptos"/>
                <a:ea typeface="Aptos"/>
                <a:cs typeface="Aptos"/>
              </a:rPr>
              <a:t>ペルソナ別コメント</a:t>
            </a:r>
          </a:p>
          <a:p xmlns:a="http://schemas.openxmlformats.org/drawingml/2006/main">
            <a:pPr algn="l">
              <a:defRPr sz="1425" b="0">
                <a:solidFill>
                  <a:srgbClr val="5D5D5D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D5D5D"/>
                </a:solidFill>
                <a:latin typeface="Aptos"/>
                <a:ea typeface="Aptos"/>
                <a:cs typeface="Aptos"/>
              </a:rPr>
              <a:t>次の検証仮説</a:t>
            </a:r>
          </a:p>
          <a:p xmlns:a="http://schemas.openxmlformats.org/drawingml/2006/main">
            <a:pPr algn="l">
              <a:defRPr sz="1425" b="0">
                <a:solidFill>
                  <a:srgbClr val="5D5D5D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D5D5D"/>
                </a:solidFill>
                <a:latin typeface="Aptos"/>
                <a:ea typeface="Aptos"/>
                <a:cs typeface="Aptos"/>
              </a:rPr>
              <a:t>質問票ドラフト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FF1E0D-0AAB-4AC4-AAF3-2CFF432A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24550"/>
            <a:ext cx="857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D0D0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D0D0D"/>
                </a:solidFill>
                <a:latin typeface="Aptos"/>
                <a:ea typeface="Aptos"/>
                <a:cs typeface="Aptos"/>
              </a:rPr>
              <a:t>ポイント: 送金導線の最適化ではなく、日常接点・月次確認・安心感のバランスを評価する。</a:t>
            </a:r>
          </a:p>
        </p:txBody>
      </p:sp>
    </p:spTree>
    <p:extLst>
      <p:ext uri="{BB962C8B-B14F-4D97-AF65-F5344CB8AC3E}">
        <p14:creationId xmlns:p14="http://schemas.microsoft.com/office/powerpoint/2010/main" val="9830510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51C025-D1AA-4A7E-BE87-774612651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73B8EB-302D-46B5-B9E1-2D91E7FF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100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A100FF"/>
                </a:solidFill>
                <a:latin typeface="Aptos"/>
                <a:ea typeface="Aptos"/>
                <a:cs typeface="Aptos"/>
              </a:rPr>
              <a:t>Pattern A / 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FDDFF6-0673-4E52-B254-F874275D4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8200"/>
            <a:ext cx="7429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D0D0D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D0D0D"/>
                </a:solidFill>
                <a:latin typeface="Aptos"/>
                <a:ea typeface="Aptos"/>
                <a:cs typeface="Aptos"/>
              </a:rPr>
              <a:t>依頼事項は、大規模開発ではなく</a:t>
            </a:r>
          </a:p>
          <a:p xmlns:a="http://schemas.openxmlformats.org/drawingml/2006/main">
            <a:pPr algn="l">
              <a:defRPr sz="2850" b="1">
                <a:solidFill>
                  <a:srgbClr val="0D0D0D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D0D0D"/>
                </a:solidFill>
                <a:latin typeface="Aptos"/>
                <a:ea typeface="Aptos"/>
                <a:cs typeface="Aptos"/>
              </a:rPr>
              <a:t>“検証できる状態”を作ること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741370-03AE-4ACA-AD9D-CCEADB709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7429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0D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01BEF5-EC32-4840-8E0C-F4F2481E1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57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A51177-4DA2-428C-81E2-30A21E33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495550"/>
            <a:ext cx="2571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D0D0D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D0D0D"/>
                </a:solidFill>
                <a:latin typeface="Aptos"/>
                <a:ea typeface="Aptos"/>
                <a:cs typeface="Aptos"/>
              </a:rPr>
              <a:t>OpenAI連携PoC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FCFADD-FB35-41C4-8F75-0A4C6D684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857500"/>
            <a:ext cx="5810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UI画像A/Bを読み、評価軸別レビューをJSONで返す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A28754-9D9A-4B31-827E-26FDEC0D7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295650"/>
            <a:ext cx="7905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AD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A211A-80F5-4F3F-AD36-821C0326D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7429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100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1E0660-9A16-4B9F-A154-BAAD6615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242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428BAF-ABE1-4BF6-8D66-DA0F5068B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62350"/>
            <a:ext cx="2571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D0D0D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D0D0D"/>
                </a:solidFill>
                <a:latin typeface="Aptos"/>
                <a:ea typeface="Aptos"/>
                <a:cs typeface="Aptos"/>
              </a:rPr>
              <a:t>評価設計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4C60DC-D7CC-415A-9055-542CF4E66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924300"/>
            <a:ext cx="5810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母集団・評価軸・出力形式をテンプレート化する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406F12-57AD-459C-8DE7-7C33077C7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362450"/>
            <a:ext cx="7905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AD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17BEF9-BCE5-4E4B-B2CA-49E3C30B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91050"/>
            <a:ext cx="7429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0D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973641-5536-4460-850E-13B714F6E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7910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02A03C-F1AE-4CF2-B141-80948DEB2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629150"/>
            <a:ext cx="2571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D0D0D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D0D0D"/>
                </a:solidFill>
                <a:latin typeface="Aptos"/>
                <a:ea typeface="Aptos"/>
                <a:cs typeface="Aptos"/>
              </a:rPr>
              <a:t>安全運用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334D74-B2EB-4710-B21A-AC560F918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991100"/>
            <a:ext cx="5810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機密画像・実顧客データを使わない保存/ログ方針を定義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C4B69B-8F1B-4A47-A747-A6A51598E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429250"/>
            <a:ext cx="7905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AD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9C3186-F2C1-493D-AA85-A6D3AB0A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028700"/>
            <a:ext cx="3143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0D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23DB46-F7DA-4FE2-BF38-19B14F556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25730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判断したいこと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8C727C-6C93-47C4-840C-5E5C6677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57350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8E8E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8E8E8"/>
                </a:solidFill>
                <a:latin typeface="Aptos"/>
                <a:ea typeface="Aptos"/>
                <a:cs typeface="Aptos"/>
              </a:rPr>
              <a:t>本調査前の仮説品質とレビュー準備時間が改善するか。</a:t>
            </a:r>
          </a:p>
        </p:txBody>
      </p:sp>
    </p:spTree>
    <p:extLst>
      <p:ext uri="{BB962C8B-B14F-4D97-AF65-F5344CB8AC3E}">
        <p14:creationId xmlns:p14="http://schemas.microsoft.com/office/powerpoint/2010/main" val="157311142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C94F2D-9A12-4233-8ADE-B0A235C9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BBA29E-750F-4F9C-BF84-714E20AD7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5B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83EAA2-C3DA-4334-ABAE-57D6E00DF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05B4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5B47"/>
                </a:solidFill>
                <a:latin typeface="Aptos"/>
                <a:ea typeface="Aptos"/>
                <a:cs typeface="Aptos"/>
              </a:rPr>
              <a:t>Pattern B / Issue tree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AA7592-3D54-405E-B896-4B2D43BA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19150"/>
            <a:ext cx="7239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課題は“調査ができない”ではなく、</a:t>
            </a:r>
          </a:p>
          <a:p xmlns:a="http://schemas.openxmlformats.org/drawingml/2006/main">
            <a:pPr algn="l">
              <a:defRPr sz="27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調査前の論点形成が弱いこと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516110-6CE8-4B75-A975-643D69DAC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2667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5B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1ED861-CCF0-4A65-B666-6EB5CEAC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219450"/>
            <a:ext cx="2095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UI/UX判断の</a:t>
            </a:r>
          </a:p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品質が安定しない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E8A56B-84C2-46EE-889A-2F7E49119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467100"/>
            <a:ext cx="1085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B3585B-B9C7-4CB3-A85E-590CE667B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286000"/>
            <a:ext cx="2762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D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BEDEB4-B023-4773-BDB2-6FB2B382C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45745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5B4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05B47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DC7AB3-1EFA-4682-AAD5-8E942E0EC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72415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ユーザー視点が不足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0E12EF-99A8-4F8E-962D-9EE9AAC91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028950"/>
            <a:ext cx="226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62706A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62706A"/>
                </a:solidFill>
                <a:latin typeface="Aptos"/>
                <a:ea typeface="Aptos"/>
                <a:cs typeface="Aptos"/>
              </a:rPr>
              <a:t>社内の感覚・過去経験・声の大きさに寄る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03503B-9B03-42CA-81B6-0F0B883C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467100"/>
            <a:ext cx="1085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868606-8CFD-4C98-817F-B2A6CBE69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638550"/>
            <a:ext cx="2762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9A22A8-8391-47E9-88CF-13EC8AAE4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8100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5B4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05B47"/>
                </a:solidFill>
                <a:latin typeface="Aptos"/>
                <a:ea typeface="Aptos"/>
                <a:cs typeface="Aptos"/>
              </a:rPr>
              <a:t>Process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8144EA-8276-443C-9823-E44E370DE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0767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検証設計が後追い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C789DC-A698-4318-AFAC-4E8CA3243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381500"/>
            <a:ext cx="226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62706A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62706A"/>
                </a:solidFill>
                <a:latin typeface="Aptos"/>
                <a:ea typeface="Aptos"/>
                <a:cs typeface="Aptos"/>
              </a:rPr>
              <a:t>何を聞くべきかが固まる前に案が進む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E61B6F-D9D6-410A-9D57-925F371B7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467100"/>
            <a:ext cx="432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FD428A-CD1A-4B46-B798-117B11E9F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52750"/>
            <a:ext cx="2762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D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FB83E3-3DAB-4A3F-A5B0-995847962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124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5B4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05B47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0C21E2-C08A-4F77-ACA1-2AF08BB2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909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改善仮説が粗い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01B488-7C07-4770-B217-7786E557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95700"/>
            <a:ext cx="226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62706A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62706A"/>
                </a:solidFill>
                <a:latin typeface="Aptos"/>
                <a:ea typeface="Aptos"/>
                <a:cs typeface="Aptos"/>
              </a:rPr>
              <a:t>本調査やレビューで確認すべき論点が曖昧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665B12-EF6C-45FE-9BD1-ED3514BA2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53100"/>
            <a:ext cx="8096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D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B0FC5D-5DEC-464C-AAEC-C70F1A35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95975"/>
            <a:ext cx="742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論点: AIで“正解”を出すのではなく、調査前に検証すべき問いを増やし、荒い案を潰す。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F7768C-61AA-4A70-B7BC-0F6424962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62700"/>
            <a:ext cx="447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2706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2706A"/>
                </a:solidFill>
                <a:latin typeface="Aptos"/>
                <a:ea typeface="Aptos"/>
                <a:cs typeface="Aptos"/>
              </a:rPr>
              <a:t>Reference grammar: BCG-style issue decomposition / customer value framing</a:t>
            </a:r>
          </a:p>
        </p:txBody>
      </p:sp>
    </p:spTree>
    <p:extLst>
      <p:ext uri="{BB962C8B-B14F-4D97-AF65-F5344CB8AC3E}">
        <p14:creationId xmlns:p14="http://schemas.microsoft.com/office/powerpoint/2010/main" val="190927825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E35856-FC28-4F81-AD75-B695DDE5C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098E3F-8D1A-4BE7-9242-83DF56FFF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05B4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5B47"/>
                </a:solidFill>
                <a:latin typeface="Aptos"/>
                <a:ea typeface="Aptos"/>
                <a:cs typeface="Aptos"/>
              </a:rPr>
              <a:t>Pattern B / Operating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166BF4-F886-4839-B40A-CFA517D80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19150"/>
            <a:ext cx="7715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母集団 × 評価軸 × 出力を分けると、</a:t>
            </a:r>
          </a:p>
          <a:p xmlns:a="http://schemas.openxmlformats.org/drawingml/2006/main">
            <a:pPr algn="l">
              <a:defRPr sz="27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AIレビューは業務設計になる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038B3B-F7BB-4753-A3E1-B8B58D978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90700"/>
            <a:ext cx="7048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62706A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62706A"/>
                </a:solidFill>
                <a:latin typeface="Aptos"/>
                <a:ea typeface="Aptos"/>
                <a:cs typeface="Aptos"/>
              </a:rPr>
              <a:t>銀行IB利用者の現実に近いペルソナを置き、施策目的ごとに評価軸を切り替えることで、単なるA/B投票から脱却する。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24F256-5B8E-448B-B868-81934A1CB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0289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9525">
            <a:solidFill>
              <a:srgbClr val="D9E0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2C2398-9B5E-41A8-BDE0-6B95E56D0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028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5B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73166C-EC77-47A5-9582-C4F737A8B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990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1. Population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7E7019-C631-41E2-AEB7-3BB960240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228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銀行IB利用者20人</a:t>
            </a:r>
          </a:p>
          <a:p xmlns:a="http://schemas.openxmlformats.org/drawingml/2006/main">
            <a:pPr algn="l">
              <a:defRPr sz="1350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平均年齢50歳前後</a:t>
            </a:r>
          </a:p>
          <a:p xmlns:a="http://schemas.openxmlformats.org/drawingml/2006/main">
            <a:pPr algn="l">
              <a:defRPr sz="1350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利用頻度・金融リテラシーを分散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407266-F8AE-4B62-BEBB-B59694E42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829050"/>
            <a:ext cx="190500" cy="1905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05B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0C9FC0-D13B-420D-AE82-7EC290C4E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876550"/>
            <a:ext cx="30289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9525">
            <a:solidFill>
              <a:srgbClr val="D9E0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CFABB8-A135-4263-BAFA-4D5F22544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876550"/>
            <a:ext cx="3028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95FB08-0221-4CD1-925E-0D0E9E75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0990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2. Evaluation axes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930301-5A26-4DB8-8D89-1ACFA592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38550"/>
            <a:ext cx="228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毎日使いたいか</a:t>
            </a:r>
          </a:p>
          <a:p xmlns:a="http://schemas.openxmlformats.org/drawingml/2006/main">
            <a:pPr algn="l">
              <a:defRPr sz="1350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毎月確認したいか</a:t>
            </a:r>
          </a:p>
          <a:p xmlns:a="http://schemas.openxmlformats.org/drawingml/2006/main">
            <a:pPr algn="l">
              <a:defRPr sz="1350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安心して見られるか</a:t>
            </a:r>
          </a:p>
          <a:p xmlns:a="http://schemas.openxmlformats.org/drawingml/2006/main">
            <a:pPr algn="l">
              <a:defRPr sz="1350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必要情報に迷わないか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40385D-918A-4BF7-9C58-E5F219BA2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829050"/>
            <a:ext cx="190500" cy="1905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05B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D27F6B-33DC-42A4-AE0F-AAF04361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76550"/>
            <a:ext cx="30289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9525">
            <a:solidFill>
              <a:srgbClr val="D9E0D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9DAFEB-FC2F-43A9-BEFF-9BC067E9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76550"/>
            <a:ext cx="3028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F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4E8A41-40D9-4C13-AC3F-F03A7DC82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00990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3. Synthesis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AA6B8D-6283-4F5E-947B-DE1AF9EE2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638550"/>
            <a:ext cx="228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目的別の強弱</a:t>
            </a:r>
          </a:p>
          <a:p xmlns:a="http://schemas.openxmlformats.org/drawingml/2006/main">
            <a:pPr algn="l">
              <a:defRPr sz="1350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年齢層別の懸念</a:t>
            </a:r>
          </a:p>
          <a:p xmlns:a="http://schemas.openxmlformats.org/drawingml/2006/main">
            <a:pPr algn="l">
              <a:defRPr sz="1350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ハイブリッド案</a:t>
            </a:r>
          </a:p>
          <a:p xmlns:a="http://schemas.openxmlformats.org/drawingml/2006/main">
            <a:pPr algn="l">
              <a:defRPr sz="1350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質問票ドラフト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B9112D-D510-4B3F-831E-37DCA7B8C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05450"/>
            <a:ext cx="962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5B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04C66E-13D1-4A78-B24D-C84BE1164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57850"/>
            <a:ext cx="866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MVPの価値: 実調査前に、調査対象・質問・改善案の“外さない初期案”を作る。</a:t>
            </a:r>
          </a:p>
        </p:txBody>
      </p:sp>
    </p:spTree>
    <p:extLst>
      <p:ext uri="{BB962C8B-B14F-4D97-AF65-F5344CB8AC3E}">
        <p14:creationId xmlns:p14="http://schemas.microsoft.com/office/powerpoint/2010/main" val="97702762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25B51F-EFC0-42E3-970A-BDD387DC3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E390AE-908C-4C25-B548-CD01F733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05B4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5B47"/>
                </a:solidFill>
                <a:latin typeface="Aptos"/>
                <a:ea typeface="Aptos"/>
                <a:cs typeface="Aptos"/>
              </a:rPr>
              <a:t>Pattern B / Decision request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CF2784-3EDB-4E23-8241-9B35A15FB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19150"/>
            <a:ext cx="8096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承認してほしいのは、AI導入ではなく</a:t>
            </a:r>
          </a:p>
          <a:p xmlns:a="http://schemas.openxmlformats.org/drawingml/2006/main">
            <a:pPr algn="l">
              <a:defRPr sz="27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“小さな検証”の開始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648E52-DA3F-4609-91AA-413AD466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6858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D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E17268-9FAE-49FD-9661-EC36EADD2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57450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AD3495-BAAF-474C-A557-83827BFAE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289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05B4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5B47"/>
                </a:solidFill>
                <a:latin typeface="Aptos"/>
                <a:ea typeface="Aptos"/>
                <a:cs typeface="Aptos"/>
              </a:rPr>
              <a:t>検証テーマ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9CE5A9-4F63-4288-A3BA-1FF9EDE66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6098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銀行アプリトップページA/Bの仮説生成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F26673-CEC0-4249-ADE5-7FAC650CF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ACFFF0-497E-45FF-BD81-152296BC2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004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05B4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5B47"/>
                </a:solidFill>
                <a:latin typeface="Aptos"/>
                <a:ea typeface="Aptos"/>
                <a:cs typeface="Aptos"/>
              </a:rPr>
              <a:t>入力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D59022-7F0A-4049-8087-703CE3CA4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1813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架空UI画像、評価軸、母集団条件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EBEAC3-4925-42B3-9A32-7712036E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00450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F7C52A-4C1E-43A3-9D3A-A30AFC0B9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719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05B4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5B47"/>
                </a:solidFill>
                <a:latin typeface="Aptos"/>
                <a:ea typeface="Aptos"/>
                <a:cs typeface="Aptos"/>
              </a:rPr>
              <a:t>出力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939577-5ED4-49AB-AFAE-40ED9958D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7528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目的別スコア、ペルソナコメント、懸念、次の質問票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EADDB2-2BF1-41D0-AE2B-2D4C457F1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71950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F8588D-B40D-46E1-8672-E98ADB537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434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05B4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5B47"/>
                </a:solidFill>
                <a:latin typeface="Aptos"/>
                <a:ea typeface="Aptos"/>
                <a:cs typeface="Aptos"/>
              </a:rPr>
              <a:t>非対象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0983FE-39BF-44F7-9EE2-FC2CF841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3243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実顧客データ保存、社内機密画像投入、自動意思決定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62CBB4-9A6C-403D-A658-335C5AFB1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D8B36B-DD49-41BD-8131-9CE8AD594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149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05B4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5B47"/>
                </a:solidFill>
                <a:latin typeface="Aptos"/>
                <a:ea typeface="Aptos"/>
                <a:cs typeface="Aptos"/>
              </a:rPr>
              <a:t>判断基準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1FE467-8E47-4C68-BD43-AB9C40663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8958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レビュー準備時間と本調査前の仮説品質が改善するか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BE7DDB-5D49-4930-8CEB-2D165F0CB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66950"/>
            <a:ext cx="2857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5B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4FDEBA-5D15-41F8-8C06-E033A5DA7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479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依頼事項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62B18B-4C48-4647-8344-455A972B8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62300"/>
            <a:ext cx="2190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6F2E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6F2EE"/>
                </a:solidFill>
                <a:latin typeface="Aptos"/>
                <a:ea typeface="Aptos"/>
                <a:cs typeface="Aptos"/>
              </a:rPr>
              <a:t>1. OpenAI画像理解の技術検証</a:t>
            </a:r>
          </a:p>
          <a:p xmlns:a="http://schemas.openxmlformats.org/drawingml/2006/main">
            <a:pPr algn="l">
              <a:defRPr sz="1350" b="0">
                <a:solidFill>
                  <a:srgbClr val="E6F2E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6F2EE"/>
                </a:solidFill>
                <a:latin typeface="Aptos"/>
                <a:ea typeface="Aptos"/>
                <a:cs typeface="Aptos"/>
              </a:rPr>
              <a:t>2. ペルソナ/評価軸プロンプト設計</a:t>
            </a:r>
          </a:p>
          <a:p xmlns:a="http://schemas.openxmlformats.org/drawingml/2006/main">
            <a:pPr algn="l">
              <a:defRPr sz="1350" b="0">
                <a:solidFill>
                  <a:srgbClr val="E6F2E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6F2EE"/>
                </a:solidFill>
                <a:latin typeface="Aptos"/>
                <a:ea typeface="Aptos"/>
                <a:cs typeface="Aptos"/>
              </a:rPr>
              <a:t>3. セキュリティ・ログ方針整理</a:t>
            </a:r>
          </a:p>
        </p:txBody>
      </p:sp>
    </p:spTree>
    <p:extLst>
      <p:ext uri="{BB962C8B-B14F-4D97-AF65-F5344CB8AC3E}">
        <p14:creationId xmlns:p14="http://schemas.microsoft.com/office/powerpoint/2010/main" val="113088744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E71A5B-9F4E-4A84-B82D-193F980E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F48BD0-F18A-465B-BE41-9BC49D2E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19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6E2A18-DB21-4237-BA97-B30FD1C35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719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71920"/>
                </a:solidFill>
                <a:latin typeface="Aptos"/>
                <a:ea typeface="Aptos"/>
                <a:cs typeface="Aptos"/>
              </a:rPr>
              <a:t>Pattern C / Enterprise IR style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DAA07A-26D4-4F11-BE6C-4D8C00A99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7239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B1B1B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B1B1B"/>
                </a:solidFill>
                <a:latin typeface="Aptos"/>
                <a:ea typeface="Aptos"/>
                <a:cs typeface="Aptos"/>
              </a:rPr>
              <a:t>UI/UX判断プロセス高度化に向けた</a:t>
            </a:r>
          </a:p>
          <a:p xmlns:a="http://schemas.openxmlformats.org/drawingml/2006/main">
            <a:pPr algn="l">
              <a:defRPr sz="2325" b="1">
                <a:solidFill>
                  <a:srgbClr val="1B1B1B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B1B1B"/>
                </a:solidFill>
                <a:latin typeface="Aptos"/>
                <a:ea typeface="Aptos"/>
                <a:cs typeface="Aptos"/>
              </a:rPr>
              <a:t>AIペルソナレビューMVPの位置づけ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2089DB-0ED0-486A-BDAB-4EFBA017B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66900"/>
            <a:ext cx="7429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606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6060"/>
                </a:solidFill>
                <a:latin typeface="Aptos"/>
                <a:ea typeface="Aptos"/>
                <a:cs typeface="Aptos"/>
              </a:rPr>
              <a:t>施策検討の上流で、顧客視点の仮説・懸念・確認事項を構造化し、レビュー品質と検討速度の両立を図る。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8F219F-ADE5-4A7A-BA90-041C61F00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81300"/>
            <a:ext cx="2667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B819B2-AB29-4059-8DCD-E8AB25F55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14650"/>
            <a:ext cx="2362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B1B1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B1B1B"/>
                </a:solidFill>
                <a:latin typeface="Aptos"/>
                <a:ea typeface="Aptos"/>
                <a:cs typeface="Aptos"/>
              </a:rPr>
              <a:t>現状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DF1FEF-C9A9-4B33-8B1A-8AC13C3EE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781300"/>
            <a:ext cx="2667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1920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185240-CC13-4FB9-A93B-73A041F2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914650"/>
            <a:ext cx="2362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課題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B1CA50-226E-4DCB-BEFF-C53CFF82B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781300"/>
            <a:ext cx="2667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1920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9AAA2C-30DD-4D72-A0CC-134D42FC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914650"/>
            <a:ext cx="2362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MVPでの対応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83CBC4-92ED-44DA-AA7D-0B07A9B67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781300"/>
            <a:ext cx="2667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1920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3F19BE-CF1B-4B13-8568-BDE4C3AAB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914650"/>
            <a:ext cx="2362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期待効果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36AC8E-7219-45B1-BB4A-ED7DB2A9E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19450"/>
            <a:ext cx="266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7CBB0F-EE88-4202-A7E8-A7C661127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90900"/>
            <a:ext cx="23431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0606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606060"/>
                </a:solidFill>
                <a:latin typeface="Aptos"/>
                <a:ea typeface="Aptos"/>
                <a:cs typeface="Aptos"/>
              </a:rPr>
              <a:t>社内経験・感覚に基づくレビュー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630A82-B063-46B5-8B0F-75D513775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219450"/>
            <a:ext cx="266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3BB246-FB04-41B8-A716-94E2B42C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23431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0606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606060"/>
                </a:solidFill>
                <a:latin typeface="Aptos"/>
                <a:ea typeface="Aptos"/>
                <a:cs typeface="Aptos"/>
              </a:rPr>
              <a:t>調査実施前の顧客視点が不足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061779-E815-4923-9610-05587DCB7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219450"/>
            <a:ext cx="266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45C7BB-C6AE-4780-997F-3D293A065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390900"/>
            <a:ext cx="23431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0606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606060"/>
                </a:solidFill>
                <a:latin typeface="Aptos"/>
                <a:ea typeface="Aptos"/>
                <a:cs typeface="Aptos"/>
              </a:rPr>
              <a:t>AIペルソナ20人でA/B案を評価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BF33FA-A191-41D2-833F-2189C6E43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219450"/>
            <a:ext cx="266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2F8193-03BA-42B5-BB10-5EFEE8C2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90900"/>
            <a:ext cx="23431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D71920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D71920"/>
                </a:solidFill>
                <a:latin typeface="Aptos"/>
                <a:ea typeface="Aptos"/>
                <a:cs typeface="Aptos"/>
              </a:rPr>
              <a:t>初期仮説と質問票を短時間で作成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124D7B-E236-4C76-88B2-7C5239BC0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00500"/>
            <a:ext cx="266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AECE25-82C4-4BC6-9A1E-4BBAFE6B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71950"/>
            <a:ext cx="23431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0606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606060"/>
                </a:solidFill>
                <a:latin typeface="Aptos"/>
                <a:ea typeface="Aptos"/>
                <a:cs typeface="Aptos"/>
              </a:rPr>
              <a:t>UI/キャンペーン案ごとに論点がばらつく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683031-EE63-4F22-B9F4-B597EBEF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000500"/>
            <a:ext cx="266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B7456E-9DCC-4294-8A01-DBA81282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171950"/>
            <a:ext cx="23431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0606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606060"/>
                </a:solidFill>
                <a:latin typeface="Aptos"/>
                <a:ea typeface="Aptos"/>
                <a:cs typeface="Aptos"/>
              </a:rPr>
              <a:t>何を評価するかが案件ごとに曖昧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92CB16-2D5C-4C2F-BA6C-5DABE4EB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000500"/>
            <a:ext cx="266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4E4182-2251-4824-A88D-59B00F608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171950"/>
            <a:ext cx="23431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0606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606060"/>
                </a:solidFill>
                <a:latin typeface="Aptos"/>
                <a:ea typeface="Aptos"/>
                <a:cs typeface="Aptos"/>
              </a:rPr>
              <a:t>評価軸を事前設定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908FC5-D171-4304-9010-13855566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00500"/>
            <a:ext cx="266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3DA729-355C-408A-B470-94336B6A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171950"/>
            <a:ext cx="23431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D71920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D71920"/>
                </a:solidFill>
                <a:latin typeface="Aptos"/>
                <a:ea typeface="Aptos"/>
                <a:cs typeface="Aptos"/>
              </a:rPr>
              <a:t>目的別の強弱を比較可能にする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23F939-3B5A-4BD5-88DA-3FCDC5491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81550"/>
            <a:ext cx="266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4504D2-A58B-477A-9BB6-B67CE02C5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23431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0606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606060"/>
                </a:solidFill>
                <a:latin typeface="Aptos"/>
                <a:ea typeface="Aptos"/>
                <a:cs typeface="Aptos"/>
              </a:rPr>
              <a:t>実調査は重要だが実施負荷が高い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F09248-0166-40EB-9C9A-4CF7A17B3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781550"/>
            <a:ext cx="266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AF3B888-510E-428E-A519-1D99DE46E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953000"/>
            <a:ext cx="23431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0606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606060"/>
                </a:solidFill>
                <a:latin typeface="Aptos"/>
                <a:ea typeface="Aptos"/>
                <a:cs typeface="Aptos"/>
              </a:rPr>
              <a:t>改善サイクルに間に合わない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ED1E92-E93C-4C9F-84FC-E6A1198E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781550"/>
            <a:ext cx="266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8D6F7CB-8382-4475-AF3F-7EF349648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953000"/>
            <a:ext cx="23431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0606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606060"/>
                </a:solidFill>
                <a:latin typeface="Aptos"/>
                <a:ea typeface="Aptos"/>
                <a:cs typeface="Aptos"/>
              </a:rPr>
              <a:t>機密データなしで小さく検証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1C29474-4E03-46B4-A891-F6B577594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781550"/>
            <a:ext cx="266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2A2B889-5587-4EA4-ACAD-66A16641B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953000"/>
            <a:ext cx="23431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D71920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D71920"/>
                </a:solidFill>
                <a:latin typeface="Aptos"/>
                <a:ea typeface="Aptos"/>
                <a:cs typeface="Aptos"/>
              </a:rPr>
              <a:t>安全に業務適用可能性を確認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C81EDE3-AB22-4F5B-B057-AF91D9D88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38900"/>
            <a:ext cx="476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06060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06060"/>
                </a:solidFill>
                <a:latin typeface="Aptos"/>
                <a:ea typeface="Aptos"/>
                <a:cs typeface="Aptos"/>
              </a:rPr>
              <a:t>Reference grammar: MUFG-style enterprise/IR table and initiative framing</a:t>
            </a:r>
          </a:p>
        </p:txBody>
      </p:sp>
    </p:spTree>
    <p:extLst>
      <p:ext uri="{BB962C8B-B14F-4D97-AF65-F5344CB8AC3E}">
        <p14:creationId xmlns:p14="http://schemas.microsoft.com/office/powerpoint/2010/main" val="166736389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8C0A49-8CEC-430E-A879-D8B85E12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0BE6B3-6AF0-4CC8-BC8F-62D01D900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19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D882C8-6227-428D-BD74-408A5C808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719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71920"/>
                </a:solidFill>
                <a:latin typeface="Aptos"/>
                <a:ea typeface="Aptos"/>
                <a:cs typeface="Aptos"/>
              </a:rPr>
              <a:t>Pattern C / MVP scope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485358-1476-44A7-8F22-AD2D7D675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733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B1B1B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B1B1B"/>
                </a:solidFill>
                <a:latin typeface="Aptos"/>
                <a:ea typeface="Aptos"/>
                <a:cs typeface="Aptos"/>
              </a:rPr>
              <a:t>検証範囲は、母集団・評価軸・出力品質の</a:t>
            </a:r>
          </a:p>
          <a:p xmlns:a="http://schemas.openxmlformats.org/drawingml/2006/main">
            <a:pPr algn="l">
              <a:defRPr sz="2325" b="1">
                <a:solidFill>
                  <a:srgbClr val="1B1B1B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B1B1B"/>
                </a:solidFill>
                <a:latin typeface="Aptos"/>
                <a:ea typeface="Aptos"/>
                <a:cs typeface="Aptos"/>
              </a:rPr>
              <a:t>3点に限定する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DB16EC-E6DC-48B4-8EBB-963A97740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2C9ED4-AE5A-4D50-B3B5-028B2719E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7192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D71920"/>
                </a:solidFill>
                <a:latin typeface="Aptos"/>
                <a:ea typeface="Aptos"/>
                <a:cs typeface="Aptos"/>
              </a:rPr>
              <a:t>母集団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D079B5-3897-422E-8578-39193DA2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90900"/>
            <a:ext cx="2286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B1B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B1B1B"/>
                </a:solidFill>
                <a:latin typeface="Aptos"/>
                <a:ea typeface="Aptos"/>
                <a:cs typeface="Aptos"/>
              </a:rPr>
              <a:t>銀行IB利用者20人</a:t>
            </a:r>
          </a:p>
          <a:p xmlns:a="http://schemas.openxmlformats.org/drawingml/2006/main">
            <a:pPr algn="l">
              <a:defRPr sz="1350" b="0">
                <a:solidFill>
                  <a:srgbClr val="1B1B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B1B1B"/>
                </a:solidFill>
                <a:latin typeface="Aptos"/>
                <a:ea typeface="Aptos"/>
                <a:cs typeface="Aptos"/>
              </a:rPr>
              <a:t>平均年齢50歳前後</a:t>
            </a:r>
          </a:p>
          <a:p xmlns:a="http://schemas.openxmlformats.org/drawingml/2006/main">
            <a:pPr algn="l">
              <a:defRPr sz="1350" b="0">
                <a:solidFill>
                  <a:srgbClr val="1B1B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B1B1B"/>
                </a:solidFill>
                <a:latin typeface="Aptos"/>
                <a:ea typeface="Aptos"/>
                <a:cs typeface="Aptos"/>
              </a:rPr>
              <a:t>年齢・利用頻度・金融リテラシーを分散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7F3EB8-8FD7-4A1C-8A28-04245BF0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AF78CA-22BB-48FE-8059-075E2163B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482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0606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6060"/>
                </a:solidFill>
                <a:latin typeface="Aptos"/>
                <a:ea typeface="Aptos"/>
                <a:cs typeface="Aptos"/>
              </a:rPr>
              <a:t>想定利用者に近いレビュー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468F42-2471-49A5-BCB7-715378774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59080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ECFFB6-19C9-4A54-AB8D-EA7CE22B4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765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7192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D71920"/>
                </a:solidFill>
                <a:latin typeface="Aptos"/>
                <a:ea typeface="Aptos"/>
                <a:cs typeface="Aptos"/>
              </a:rPr>
              <a:t>評価軸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75FD67-8619-432D-88C2-E3F4F179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390900"/>
            <a:ext cx="2286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B1B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B1B1B"/>
                </a:solidFill>
                <a:latin typeface="Aptos"/>
                <a:ea typeface="Aptos"/>
                <a:cs typeface="Aptos"/>
              </a:rPr>
              <a:t>毎日利用意向</a:t>
            </a:r>
          </a:p>
          <a:p xmlns:a="http://schemas.openxmlformats.org/drawingml/2006/main">
            <a:pPr algn="l">
              <a:defRPr sz="1350" b="0">
                <a:solidFill>
                  <a:srgbClr val="1B1B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B1B1B"/>
                </a:solidFill>
                <a:latin typeface="Aptos"/>
                <a:ea typeface="Aptos"/>
                <a:cs typeface="Aptos"/>
              </a:rPr>
              <a:t>月次確認意向</a:t>
            </a:r>
          </a:p>
          <a:p xmlns:a="http://schemas.openxmlformats.org/drawingml/2006/main">
            <a:pPr algn="l">
              <a:defRPr sz="1350" b="0">
                <a:solidFill>
                  <a:srgbClr val="1B1B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B1B1B"/>
                </a:solidFill>
                <a:latin typeface="Aptos"/>
                <a:ea typeface="Aptos"/>
                <a:cs typeface="Aptos"/>
              </a:rPr>
              <a:t>安心感</a:t>
            </a:r>
          </a:p>
          <a:p xmlns:a="http://schemas.openxmlformats.org/drawingml/2006/main">
            <a:pPr algn="l">
              <a:defRPr sz="1350" b="0">
                <a:solidFill>
                  <a:srgbClr val="1B1B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B1B1B"/>
                </a:solidFill>
                <a:latin typeface="Aptos"/>
                <a:ea typeface="Aptos"/>
                <a:cs typeface="Aptos"/>
              </a:rPr>
              <a:t>情報探索性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3EC61E-4D34-469E-BA84-4C28EEFAB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05355C-E02D-4B6D-ADFA-B211ED840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6482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0606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6060"/>
                </a:solidFill>
                <a:latin typeface="Aptos"/>
                <a:ea typeface="Aptos"/>
                <a:cs typeface="Aptos"/>
              </a:rPr>
              <a:t>施策目的別の強弱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2EA759-B81E-44E8-B1F3-B496D8296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59080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6E5A81-0A11-494B-9E63-7B8AFAFC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765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7192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D71920"/>
                </a:solidFill>
                <a:latin typeface="Aptos"/>
                <a:ea typeface="Aptos"/>
                <a:cs typeface="Aptos"/>
              </a:rPr>
              <a:t>出力品質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F54095-9794-45CE-9343-A35BAC56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90900"/>
            <a:ext cx="2286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B1B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B1B1B"/>
                </a:solidFill>
                <a:latin typeface="Aptos"/>
                <a:ea typeface="Aptos"/>
                <a:cs typeface="Aptos"/>
              </a:rPr>
              <a:t>スコア</a:t>
            </a:r>
          </a:p>
          <a:p xmlns:a="http://schemas.openxmlformats.org/drawingml/2006/main">
            <a:pPr algn="l">
              <a:defRPr sz="1350" b="0">
                <a:solidFill>
                  <a:srgbClr val="1B1B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B1B1B"/>
                </a:solidFill>
                <a:latin typeface="Aptos"/>
                <a:ea typeface="Aptos"/>
                <a:cs typeface="Aptos"/>
              </a:rPr>
              <a:t>ペルソナ別コメント</a:t>
            </a:r>
          </a:p>
          <a:p xmlns:a="http://schemas.openxmlformats.org/drawingml/2006/main">
            <a:pPr algn="l">
              <a:defRPr sz="1350" b="0">
                <a:solidFill>
                  <a:srgbClr val="1B1B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B1B1B"/>
                </a:solidFill>
                <a:latin typeface="Aptos"/>
                <a:ea typeface="Aptos"/>
                <a:cs typeface="Aptos"/>
              </a:rPr>
              <a:t>懸念</a:t>
            </a:r>
          </a:p>
          <a:p xmlns:a="http://schemas.openxmlformats.org/drawingml/2006/main">
            <a:pPr algn="l">
              <a:defRPr sz="1350" b="0">
                <a:solidFill>
                  <a:srgbClr val="1B1B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B1B1B"/>
                </a:solidFill>
                <a:latin typeface="Aptos"/>
                <a:ea typeface="Aptos"/>
                <a:cs typeface="Aptos"/>
              </a:rPr>
              <a:t>次回質問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80C132-864A-431C-88DC-2CB856EB5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1E1E36-93A5-41D6-83D2-7EBE0F9E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482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0606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6060"/>
                </a:solidFill>
                <a:latin typeface="Aptos"/>
                <a:ea typeface="Aptos"/>
                <a:cs typeface="Aptos"/>
              </a:rPr>
              <a:t>本調査前の使える仮説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F671AD-9C48-470B-A961-06233BB9F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24500"/>
            <a:ext cx="962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19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6B5094-FBFA-4E55-BBB5-CE48B082E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578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非対象: AIによる自動意思決定、実顧客データの保存、機密画面の投入</a:t>
            </a:r>
          </a:p>
        </p:txBody>
      </p:sp>
    </p:spTree>
    <p:extLst>
      <p:ext uri="{BB962C8B-B14F-4D97-AF65-F5344CB8AC3E}">
        <p14:creationId xmlns:p14="http://schemas.microsoft.com/office/powerpoint/2010/main" val="8165972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504C4B-83B0-4B40-89A6-8DB497FCC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DAC9F0-1D6F-4DE8-808D-419F24C2D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19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9A8017-10CF-4430-A841-FD8DA8EDC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719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71920"/>
                </a:solidFill>
                <a:latin typeface="Aptos"/>
                <a:ea typeface="Aptos"/>
                <a:cs typeface="Aptos"/>
              </a:rPr>
              <a:t>Pattern C / Request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DB1221-BAAB-46B3-90BC-B99847806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7048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B1B1B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B1B1B"/>
                </a:solidFill>
                <a:latin typeface="Aptos"/>
                <a:ea typeface="Aptos"/>
                <a:cs typeface="Aptos"/>
              </a:rPr>
              <a:t>MVP検証に向けた依頼事項と</a:t>
            </a:r>
          </a:p>
          <a:p xmlns:a="http://schemas.openxmlformats.org/drawingml/2006/main">
            <a:pPr algn="l">
              <a:defRPr sz="2325" b="1">
                <a:solidFill>
                  <a:srgbClr val="1B1B1B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B1B1B"/>
                </a:solidFill>
                <a:latin typeface="Aptos"/>
                <a:ea typeface="Aptos"/>
                <a:cs typeface="Aptos"/>
              </a:rPr>
              <a:t>初期マイルストーン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6E7503-ED82-44BD-8A22-55EA274DD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81250"/>
            <a:ext cx="2095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1920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BC29FC-8F82-4BA2-8824-AB72DDA80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05075"/>
            <a:ext cx="1828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項目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053EC1-EB49-47DF-8423-4ECB1732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381250"/>
            <a:ext cx="3143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1920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72543F-1D38-4DE7-9A86-0A213A867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505075"/>
            <a:ext cx="2876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依頼事項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9DE218-04B9-4C43-814F-E8E28924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381250"/>
            <a:ext cx="266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1920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FF5200-43FB-4B02-B732-E5C21538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505075"/>
            <a:ext cx="2400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成果物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BA6C68-D70D-4ABC-A164-392380693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8125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1920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2A12EC-C20B-4C2B-A084-B03EC411D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505075"/>
            <a:ext cx="2114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判断基準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69C0A1-622A-4A08-8097-C29291FCD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00350"/>
            <a:ext cx="209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BF56F1-874C-4990-8C98-A53011A68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1828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7192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71920"/>
                </a:solidFill>
                <a:latin typeface="Aptos"/>
                <a:ea typeface="Aptos"/>
                <a:cs typeface="Aptos"/>
              </a:rPr>
              <a:t>技術検証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3055EA-8384-45BD-A088-AF3C5C0D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800350"/>
            <a:ext cx="3143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35FC82-443F-4A9E-8D08-7FD39D94F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990850"/>
            <a:ext cx="2876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0606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606060"/>
                </a:solidFill>
                <a:latin typeface="Aptos"/>
                <a:ea typeface="Aptos"/>
                <a:cs typeface="Aptos"/>
              </a:rPr>
              <a:t>OpenAIでUI画像A/Bを評価軸別に読み取る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DF77CC-E742-47E9-B86E-2B566A9E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800350"/>
            <a:ext cx="2667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7699D8-0112-4533-89F1-57471294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990850"/>
            <a:ext cx="2400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0606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606060"/>
                </a:solidFill>
                <a:latin typeface="Aptos"/>
                <a:ea typeface="Aptos"/>
                <a:cs typeface="Aptos"/>
              </a:rPr>
              <a:t>API試作</a:t>
            </a:r>
          </a:p>
          <a:p xmlns:a="http://schemas.openxmlformats.org/drawingml/2006/main">
            <a:pPr algn="l">
              <a:defRPr sz="1088" b="0">
                <a:solidFill>
                  <a:srgbClr val="60606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606060"/>
                </a:solidFill>
                <a:latin typeface="Aptos"/>
                <a:ea typeface="Aptos"/>
                <a:cs typeface="Aptos"/>
              </a:rPr>
              <a:t>出力JSON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24325D-B8C7-4BBE-B2F7-1C7B1E14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003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EEDE69-AD97-4CF0-B777-C3FEAEE6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990850"/>
            <a:ext cx="2114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0606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606060"/>
                </a:solidFill>
                <a:latin typeface="Aptos"/>
                <a:ea typeface="Aptos"/>
                <a:cs typeface="Aptos"/>
              </a:rPr>
              <a:t>期待形式で安定出力できる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78AAC5-172A-468F-9934-6D9973828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209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DCDCF7-F7F5-4B96-8BC5-79011A3EA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29050"/>
            <a:ext cx="1828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7192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71920"/>
                </a:solidFill>
                <a:latin typeface="Aptos"/>
                <a:ea typeface="Aptos"/>
                <a:cs typeface="Aptos"/>
              </a:rPr>
              <a:t>評価設計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1DAFD1-74D6-44F4-9941-20E74B0D4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638550"/>
            <a:ext cx="3143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A37237-8FAB-4681-9BB0-8D76FBBE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829050"/>
            <a:ext cx="2876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0606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606060"/>
                </a:solidFill>
                <a:latin typeface="Aptos"/>
                <a:ea typeface="Aptos"/>
                <a:cs typeface="Aptos"/>
              </a:rPr>
              <a:t>銀行IB利用者の母集団と評価軸をテンプレート化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86A72A-B61C-43FA-A748-390F05BA1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638550"/>
            <a:ext cx="2667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7211B9-50FE-497C-9FD2-A0CF5AA1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829050"/>
            <a:ext cx="2400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0606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606060"/>
                </a:solidFill>
                <a:latin typeface="Aptos"/>
                <a:ea typeface="Aptos"/>
                <a:cs typeface="Aptos"/>
              </a:rPr>
              <a:t>ペルソナ定義</a:t>
            </a:r>
          </a:p>
          <a:p xmlns:a="http://schemas.openxmlformats.org/drawingml/2006/main">
            <a:pPr algn="l">
              <a:defRPr sz="1088" b="0">
                <a:solidFill>
                  <a:srgbClr val="60606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606060"/>
                </a:solidFill>
                <a:latin typeface="Aptos"/>
                <a:ea typeface="Aptos"/>
                <a:cs typeface="Aptos"/>
              </a:rPr>
              <a:t>評価軸一覧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B3F288-986D-4E83-AB89-586ECE9E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385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B965A5-081E-4FE9-9128-C6C62D5C3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829050"/>
            <a:ext cx="2114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0606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606060"/>
                </a:solidFill>
                <a:latin typeface="Aptos"/>
                <a:ea typeface="Aptos"/>
                <a:cs typeface="Aptos"/>
              </a:rPr>
              <a:t>案件ごとに再利用できる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2EC5C5-C61D-4A49-BCDE-29D6F807E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0"/>
            <a:ext cx="209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6395C9-9F34-47DF-ADAF-DBBDF459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0"/>
            <a:ext cx="1828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7192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71920"/>
                </a:solidFill>
                <a:latin typeface="Aptos"/>
                <a:ea typeface="Aptos"/>
                <a:cs typeface="Aptos"/>
              </a:rPr>
              <a:t>運用設計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93ECFD9-87F4-4590-9822-50FEF424C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76750"/>
            <a:ext cx="3143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B59007-CFBD-4261-BA81-F029CEE6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667250"/>
            <a:ext cx="2876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0606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606060"/>
                </a:solidFill>
                <a:latin typeface="Aptos"/>
                <a:ea typeface="Aptos"/>
                <a:cs typeface="Aptos"/>
              </a:rPr>
              <a:t>機密画像・実顧客データを使わない方針を定義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7EC60FA-A7E2-4516-BE8E-E4BB432CC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476750"/>
            <a:ext cx="2667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2B691B-7CF9-428A-A200-AF4035BF9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667250"/>
            <a:ext cx="2400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0606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606060"/>
                </a:solidFill>
                <a:latin typeface="Aptos"/>
                <a:ea typeface="Aptos"/>
                <a:cs typeface="Aptos"/>
              </a:rPr>
              <a:t>保存方針</a:t>
            </a:r>
          </a:p>
          <a:p xmlns:a="http://schemas.openxmlformats.org/drawingml/2006/main">
            <a:pPr algn="l">
              <a:defRPr sz="1088" b="0">
                <a:solidFill>
                  <a:srgbClr val="60606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606060"/>
                </a:solidFill>
                <a:latin typeface="Aptos"/>
                <a:ea typeface="Aptos"/>
                <a:cs typeface="Aptos"/>
              </a:rPr>
              <a:t>利用ルール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83BAB9F-91D4-4AB2-8AB0-FB89639E3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4767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AB03633-4C99-45A4-86E0-AF0CDD5A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667250"/>
            <a:ext cx="2114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0606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606060"/>
                </a:solidFill>
                <a:latin typeface="Aptos"/>
                <a:ea typeface="Aptos"/>
                <a:cs typeface="Aptos"/>
              </a:rPr>
              <a:t>安全に試験導入できる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846DDAB-16AD-4E4E-86E4-AF1B91921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05450"/>
            <a:ext cx="8763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B1B1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B1B1B"/>
                </a:solidFill>
                <a:latin typeface="Aptos"/>
                <a:ea typeface="Aptos"/>
                <a:cs typeface="Aptos"/>
              </a:rPr>
              <a:t>承認依頼: まず2-4週間で、実務に耐える仮説生成品質が出るかを検証する。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781A5EA-C5E9-4E1F-B40F-68706E6B7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76950"/>
            <a:ext cx="733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0606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606060"/>
                </a:solidFill>
                <a:latin typeface="Aptos"/>
                <a:ea typeface="Aptos"/>
                <a:cs typeface="Aptos"/>
              </a:rPr>
              <a:t>補足: 本MVPはユーザー調査の代替ではなく、調査前の論点形成・レビュー準備を支援するもの。</a:t>
            </a:r>
          </a:p>
        </p:txBody>
      </p:sp>
    </p:spTree>
    <p:extLst>
      <p:ext uri="{BB962C8B-B14F-4D97-AF65-F5344CB8AC3E}">
        <p14:creationId xmlns:p14="http://schemas.microsoft.com/office/powerpoint/2010/main" val="109481198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BB66D38-FDC9-4CEE-BC78-2813EEF80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0352E6-B610-4B20-9E40-F97E1B962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F408EC-4FBE-4BFE-8EC0-EA405AA42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6F8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6F8F"/>
                </a:solidFill>
                <a:latin typeface="Aptos"/>
                <a:ea typeface="Aptos"/>
                <a:cs typeface="Aptos"/>
              </a:rPr>
              <a:t>追加論点 / User Interview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B63555-F9D8-49CB-90D5-6E2520C0B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00100"/>
            <a:ext cx="7810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1D1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1D1A"/>
                </a:solidFill>
                <a:latin typeface="Aptos"/>
                <a:ea typeface="Aptos"/>
                <a:cs typeface="Aptos"/>
              </a:rPr>
              <a:t>期待値は“仮説サマリ”ではなく、</a:t>
            </a:r>
          </a:p>
          <a:p xmlns:a="http://schemas.openxmlformats.org/drawingml/2006/main">
            <a:pPr algn="l">
              <a:defRPr sz="2550" b="1">
                <a:solidFill>
                  <a:srgbClr val="151D1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1D1A"/>
                </a:solidFill>
                <a:latin typeface="Aptos"/>
                <a:ea typeface="Aptos"/>
                <a:cs typeface="Aptos"/>
              </a:rPr>
              <a:t>ユーザーインタビューの事前実施に近い体験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7A8851-2384-4DF2-ABF3-45A0DEB2D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2880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16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16B"/>
                </a:solidFill>
                <a:latin typeface="Aptos"/>
                <a:ea typeface="Aptos"/>
                <a:cs typeface="Aptos"/>
              </a:rPr>
              <a:t>AIペルソナを一問一答で深掘りし、何に迷うか・何を確認したいか・どの言葉に反応するかを、実インタビュー前に把握する。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D4CFF9-EF41-4A2B-8B65-1A996FA44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76550"/>
            <a:ext cx="323850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EC3B1B-6420-48BA-9B88-8985863C7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765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B7A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DB7E95-C5DA-47FA-9E18-01D21A76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813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8D2C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8D2C8"/>
                </a:solidFill>
                <a:latin typeface="Aptos"/>
                <a:ea typeface="Aptos"/>
                <a:cs typeface="Aptos"/>
              </a:rPr>
              <a:t>従来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F9C833-2B55-4C0C-B2E9-2CFFCBAAE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242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51D1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1D1A"/>
                </a:solidFill>
                <a:latin typeface="Aptos"/>
                <a:ea typeface="Aptos"/>
                <a:cs typeface="Aptos"/>
              </a:rPr>
              <a:t>実ユーザー調査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7A6191-4367-413C-9E2F-53E16A33A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00500"/>
            <a:ext cx="2571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6716B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6716B"/>
                </a:solidFill>
                <a:latin typeface="Aptos"/>
                <a:ea typeface="Aptos"/>
                <a:cs typeface="Aptos"/>
              </a:rPr>
              <a:t>日程調整・対象者確保・設問設計が必要。確度は高いが、早い仮説検証には重い。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AD3E49-5BA1-4F39-AAE3-6D99D438E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76550"/>
            <a:ext cx="323850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E"/>
          </a:solidFill>
          <a:ln xmlns:a="http://schemas.openxmlformats.org/drawingml/2006/main" w="9525">
            <a:solidFill>
              <a:srgbClr val="2F6F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CB2BF9-AC13-4D16-A216-CB64240CF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765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F80813-E854-4489-946F-FB0D91993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1813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CEBE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CEBE7"/>
                </a:solidFill>
                <a:latin typeface="Aptos"/>
                <a:ea typeface="Aptos"/>
                <a:cs typeface="Aptos"/>
              </a:rPr>
              <a:t>提案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092CAA-9299-4D50-8F8E-055DEDC34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5242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AIペルソナ・インタビュー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E2AB55-0368-43D4-B0E6-4C8501FD7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000500"/>
            <a:ext cx="2571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DCEBE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DCEBE7"/>
                </a:solidFill>
                <a:latin typeface="Aptos"/>
                <a:ea typeface="Aptos"/>
                <a:cs typeface="Aptos"/>
              </a:rPr>
              <a:t>銀行IB利用者100〜1000人に、設定した評価軸と質問を投げ、反応を構造化する。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5D6F55-E117-4D33-98D3-5129AC20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76550"/>
            <a:ext cx="323850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6F3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E70611-1F6F-48CF-9006-80EEB70D7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765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F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517753-076E-4FB8-86CB-A2AD251C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813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96F3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6F32"/>
                </a:solidFill>
                <a:latin typeface="Aptos"/>
                <a:ea typeface="Aptos"/>
                <a:cs typeface="Aptos"/>
              </a:rPr>
              <a:t>位置づけ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BC5DDC-B4FB-497B-A07B-2BA84D9EC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5242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51D1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1D1A"/>
                </a:solidFill>
                <a:latin typeface="Aptos"/>
                <a:ea typeface="Aptos"/>
                <a:cs typeface="Aptos"/>
              </a:rPr>
              <a:t>本調査前のリハーサル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253467-D45B-4E87-99CA-168EAF86F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00500"/>
            <a:ext cx="2571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6716B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6716B"/>
                </a:solidFill>
                <a:latin typeface="Aptos"/>
                <a:ea typeface="Aptos"/>
                <a:cs typeface="Aptos"/>
              </a:rPr>
              <a:t>調査代替ではなく、聞くべき質問・見るべきセグメント・危ない論点を先に出す。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D7DC9C-2BAD-4B4D-97EE-63971F1E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29250"/>
            <a:ext cx="1009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9525">
            <a:solidFill>
              <a:srgbClr val="D8D2C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E5BFF7-CDDD-4E7D-B53A-BB9D7AAB6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81650"/>
            <a:ext cx="933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D1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1D1A"/>
                </a:solidFill>
                <a:latin typeface="Aptos"/>
                <a:ea typeface="Aptos"/>
                <a:cs typeface="Aptos"/>
              </a:rPr>
              <a:t>言い切り方: “ユーザーインタビューを置き換える”ではなく、“ユーザーインタビュー前に、聞くべき問いと反応仮説を作る”。</a:t>
            </a:r>
          </a:p>
        </p:txBody>
      </p:sp>
    </p:spTree>
    <p:extLst>
      <p:ext uri="{BB962C8B-B14F-4D97-AF65-F5344CB8AC3E}">
        <p14:creationId xmlns:p14="http://schemas.microsoft.com/office/powerpoint/2010/main" val="16098754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4FF0BC-C173-4EB7-BDEE-F1468D0E2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100451-4D5B-4215-8EDC-F77CA7820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9A19DB-4803-4F88-B373-5B0E27F1E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6F8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6F8F"/>
                </a:solidFill>
                <a:latin typeface="Aptos"/>
                <a:ea typeface="Aptos"/>
                <a:cs typeface="Aptos"/>
              </a:rPr>
              <a:t>構築イメージ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D5E94B-A04C-4396-BBC3-497E38170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00100"/>
            <a:ext cx="7810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1D1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1D1A"/>
                </a:solidFill>
                <a:latin typeface="Aptos"/>
                <a:ea typeface="Aptos"/>
                <a:cs typeface="Aptos"/>
              </a:rPr>
              <a:t>作るとしたら、1000人調査は</a:t>
            </a:r>
          </a:p>
          <a:p xmlns:a="http://schemas.openxmlformats.org/drawingml/2006/main">
            <a:pPr algn="l">
              <a:defRPr sz="2550" b="1">
                <a:solidFill>
                  <a:srgbClr val="151D1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1D1A"/>
                </a:solidFill>
                <a:latin typeface="Aptos"/>
                <a:ea typeface="Aptos"/>
                <a:cs typeface="Aptos"/>
              </a:rPr>
              <a:t>“非同期インタビュー・ジョブ”として構築する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1CE786-40A7-44CF-A0E4-5A401B80E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723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16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16B"/>
                </a:solidFill>
                <a:latin typeface="Aptos"/>
                <a:ea typeface="Aptos"/>
                <a:cs typeface="Aptos"/>
              </a:rPr>
              <a:t>複数ユーザーが並行利用できるよう、画面操作とAI処理を分離。1000人は即時応答ではなく、ジョブ実行・集計・通知の流れにする。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F659DA-5693-4950-8026-DCF2EB5BE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23241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9525">
            <a:solidFill>
              <a:srgbClr val="D8D2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3FAF3E-0E56-485A-A56B-A9588C52C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051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F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3C6984-0867-4F49-AB66-B4DBE1393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200400"/>
            <a:ext cx="114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2C9350-0405-4174-BCC2-905659571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7665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1D1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1D1A"/>
                </a:solidFill>
                <a:latin typeface="Aptos"/>
                <a:ea typeface="Aptos"/>
                <a:cs typeface="Aptos"/>
              </a:rPr>
              <a:t>調査設計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5ECE89-F40A-4323-B8D5-5DE54317D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6716B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66716B"/>
                </a:solidFill>
                <a:latin typeface="Aptos"/>
                <a:ea typeface="Aptos"/>
                <a:cs typeface="Aptos"/>
              </a:rPr>
              <a:t>UI画像A/B、母集団、評価軸、質問リストを登録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8297F4-A319-43DE-9CBD-D10FF6C06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857500"/>
            <a:ext cx="23241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9525">
            <a:solidFill>
              <a:srgbClr val="D8D2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3A96DB-68CD-4589-8524-313C23DA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1051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640915-2C3A-478F-A323-735A66970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200400"/>
            <a:ext cx="114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21F623-4190-4847-BC56-734D1B9AA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7665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1D1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1D1A"/>
                </a:solidFill>
                <a:latin typeface="Aptos"/>
                <a:ea typeface="Aptos"/>
                <a:cs typeface="Aptos"/>
              </a:rPr>
              <a:t>ペルソナ生成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3ADF7F-F451-4066-89A2-088E1CC0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057650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6716B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66716B"/>
                </a:solidFill>
                <a:latin typeface="Aptos"/>
                <a:ea typeface="Aptos"/>
                <a:cs typeface="Aptos"/>
              </a:rPr>
              <a:t>銀行IB利用者100〜1000人を年齢・利用頻度別に生成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5D2B6A-5F7A-401E-8557-44219345E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857500"/>
            <a:ext cx="23241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9525">
            <a:solidFill>
              <a:srgbClr val="D8D2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E776B4-AF6F-4DDE-8308-7A9960C26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51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5B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092856-D0F0-48BF-9C15-36C11E8A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200400"/>
            <a:ext cx="114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586BA4-130E-4F42-9FD0-356298E49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1D1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1D1A"/>
                </a:solidFill>
                <a:latin typeface="Aptos"/>
                <a:ea typeface="Aptos"/>
                <a:cs typeface="Aptos"/>
              </a:rPr>
              <a:t>AIインタビュー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DC227C-ABE1-48B2-8254-4E46BE9AC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6716B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66716B"/>
                </a:solidFill>
                <a:latin typeface="Aptos"/>
                <a:ea typeface="Aptos"/>
                <a:cs typeface="Aptos"/>
              </a:rPr>
              <a:t>各ペルソナに一問一答で反応・懸念・深掘り回答を生成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0CA08D-1626-423B-A10A-098AD6B51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857500"/>
            <a:ext cx="23241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E"/>
          </a:solidFill>
          <a:ln xmlns:a="http://schemas.openxmlformats.org/drawingml/2006/main" w="9525">
            <a:solidFill>
              <a:srgbClr val="D8D2C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041AE1-54DD-4342-8376-636743299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1051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68518D-B01B-44A4-8755-7CBF27E3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200400"/>
            <a:ext cx="114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F745D8-C02F-4F0A-B5E5-23398BBB7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7665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集計・示唆化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EFC69A-8890-4EDD-872B-389BF52CA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057650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DCEBE7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DCEBE7"/>
                </a:solidFill>
                <a:latin typeface="Aptos"/>
                <a:ea typeface="Aptos"/>
                <a:cs typeface="Aptos"/>
              </a:rPr>
              <a:t>年代別/利用頻度別に、発話・スコア・代表コメントを要約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C34ADF-7BBE-428E-9600-DEACB2D8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9700"/>
            <a:ext cx="495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9525">
            <a:solidFill>
              <a:srgbClr val="D8D2C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88659F-E79E-4BEF-81C0-C14E9DC0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292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5B4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05B47"/>
                </a:solidFill>
                <a:latin typeface="Aptos"/>
                <a:ea typeface="Aptos"/>
                <a:cs typeface="Aptos"/>
              </a:rPr>
              <a:t>並行利用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72D7CB-4F4B-487D-926C-9A91D803F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429250"/>
            <a:ext cx="266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6716B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6716B"/>
                </a:solidFill>
                <a:latin typeface="Aptos"/>
                <a:ea typeface="Aptos"/>
                <a:cs typeface="Aptos"/>
              </a:rPr>
              <a:t>ユーザー/部署ごとにプロジェクトとジョブを分離し、キューで順次処理。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02C867F-45C2-49E6-9243-4AEBE396E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219700"/>
            <a:ext cx="495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F1"/>
          </a:solidFill>
          <a:ln xmlns:a="http://schemas.openxmlformats.org/drawingml/2006/main" w="9525">
            <a:solidFill>
              <a:srgbClr val="D8D2C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4C39FB-1C69-4D36-A4C8-82B6AF61E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292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96F32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96F32"/>
                </a:solidFill>
                <a:latin typeface="Aptos"/>
                <a:ea typeface="Aptos"/>
                <a:cs typeface="Aptos"/>
              </a:rPr>
              <a:t>リスクヘッジ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98F581C-C490-400C-B798-27DD70CEE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429250"/>
            <a:ext cx="266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6716B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6716B"/>
                </a:solidFill>
                <a:latin typeface="Aptos"/>
                <a:ea typeface="Aptos"/>
                <a:cs typeface="Aptos"/>
              </a:rPr>
              <a:t>機密画像・実顧客データは投入しない。出力は意思決定ではなく調査設計材料。</a:t>
            </a:r>
          </a:p>
        </p:txBody>
      </p:sp>
    </p:spTree>
    <p:extLst>
      <p:ext uri="{BB962C8B-B14F-4D97-AF65-F5344CB8AC3E}">
        <p14:creationId xmlns:p14="http://schemas.microsoft.com/office/powerpoint/2010/main" val="8910607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2026-05-07T14:02:25.1060000Z</dcterms:created>
  <dcterms:modified xsi:type="dcterms:W3CDTF">2026-05-07T14:02:25.1060000Z</dcterms:modified>
</coreProperties>
</file>