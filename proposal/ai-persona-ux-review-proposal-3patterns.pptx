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508d074832469e" /><Relationship Type="http://schemas.openxmlformats.org/officeDocument/2006/relationships/extended-properties" Target="/docProps/app.xml" Id="R749e99f21cef4387" /><Relationship Type="http://schemas.openxmlformats.org/officeDocument/2006/relationships/officeDocument" Target="/ppt/presentation.xml" Id="R9eaf63fc346246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970287e93f486a"/>
  </p:sldMasterIdLst>
  <p:notesMasterIdLst>
    <p:notesMasterId xmlns:r="http://schemas.openxmlformats.org/officeDocument/2006/relationships" r:id="Ra0b79e1a5e834a4f"/>
  </p:notesMasterIdLst>
  <p:sldIdLst>
    <p:sldId xmlns:r="http://schemas.openxmlformats.org/officeDocument/2006/relationships" id="256" r:id="Rc7778fcedf9c417c"/>
    <p:sldId xmlns:r="http://schemas.openxmlformats.org/officeDocument/2006/relationships" id="257" r:id="Rb5278e1a9b8f412a"/>
    <p:sldId xmlns:r="http://schemas.openxmlformats.org/officeDocument/2006/relationships" id="258" r:id="R4bc8af6246b74182"/>
    <p:sldId xmlns:r="http://schemas.openxmlformats.org/officeDocument/2006/relationships" id="259" r:id="Rcb148e619ba24ce4"/>
    <p:sldId xmlns:r="http://schemas.openxmlformats.org/officeDocument/2006/relationships" id="260" r:id="Rd15175dc5138400e"/>
    <p:sldId xmlns:r="http://schemas.openxmlformats.org/officeDocument/2006/relationships" id="261" r:id="Rfc4c11a51c734a20"/>
    <p:sldId xmlns:r="http://schemas.openxmlformats.org/officeDocument/2006/relationships" id="262" r:id="Rcd0107dce7f14016"/>
    <p:sldId xmlns:r="http://schemas.openxmlformats.org/officeDocument/2006/relationships" id="263" r:id="R18dfb98fb9e24d40"/>
    <p:sldId xmlns:r="http://schemas.openxmlformats.org/officeDocument/2006/relationships" id="264" r:id="Rd4ece20fff064f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970287e93f486a" /><Relationship Type="http://schemas.openxmlformats.org/officeDocument/2006/relationships/theme" Target="/ppt/theme/theme1.xml" Id="Rb79f8b924e054a50" /><Relationship Type="http://schemas.openxmlformats.org/officeDocument/2006/relationships/notesMaster" Target="/ppt/notesMasters/notesMaster1.xml" Id="Ra0b79e1a5e834a4f" /><Relationship Type="http://schemas.openxmlformats.org/officeDocument/2006/relationships/presProps" Target="/ppt/presProps.xml" Id="R39b5b0dec795471c" /><Relationship Type="http://schemas.openxmlformats.org/officeDocument/2006/relationships/viewProps" Target="/ppt/viewProps.xml" Id="R4446270b60f54bf2" /><Relationship Type="http://schemas.openxmlformats.org/officeDocument/2006/relationships/tableStyles" Target="/ppt/tableStyles.xml" Id="Rf3cc7c20f50c439d" /><Relationship Type="http://schemas.openxmlformats.org/officeDocument/2006/relationships/slide" Target="/ppt/slides/slide1.xml" Id="Rc7778fcedf9c417c" /><Relationship Type="http://schemas.openxmlformats.org/officeDocument/2006/relationships/slide" Target="/ppt/slides/slide2.xml" Id="Rb5278e1a9b8f412a" /><Relationship Type="http://schemas.openxmlformats.org/officeDocument/2006/relationships/slide" Target="/ppt/slides/slide3.xml" Id="R4bc8af6246b74182" /><Relationship Type="http://schemas.openxmlformats.org/officeDocument/2006/relationships/slide" Target="/ppt/slides/slide4.xml" Id="Rcb148e619ba24ce4" /><Relationship Type="http://schemas.openxmlformats.org/officeDocument/2006/relationships/slide" Target="/ppt/slides/slide5.xml" Id="Rd15175dc5138400e" /><Relationship Type="http://schemas.openxmlformats.org/officeDocument/2006/relationships/slide" Target="/ppt/slides/slide6.xml" Id="Rfc4c11a51c734a20" /><Relationship Type="http://schemas.openxmlformats.org/officeDocument/2006/relationships/slide" Target="/ppt/slides/slide7.xml" Id="Rcd0107dce7f14016" /><Relationship Type="http://schemas.openxmlformats.org/officeDocument/2006/relationships/slide" Target="/ppt/slides/slide8.xml" Id="R18dfb98fb9e24d40" /><Relationship Type="http://schemas.openxmlformats.org/officeDocument/2006/relationships/slide" Target="/ppt/slides/slide9.xml" Id="Rd4ece20fff064f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1d9bde42e404d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f77971d6fb4fcd" /><Relationship Type="http://schemas.openxmlformats.org/officeDocument/2006/relationships/notesMaster" Target="/ppt/notesMasters/notesMaster1.xml" Id="R9a302375ab2746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21294dd2b149b4" /><Relationship Type="http://schemas.openxmlformats.org/officeDocument/2006/relationships/notesMaster" Target="/ppt/notesMasters/notesMaster1.xml" Id="R962e3828910043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c3be69130c45c3" /><Relationship Type="http://schemas.openxmlformats.org/officeDocument/2006/relationships/notesMaster" Target="/ppt/notesMasters/notesMaster1.xml" Id="R5d34706cae6845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fc1cc2446d4c05" /><Relationship Type="http://schemas.openxmlformats.org/officeDocument/2006/relationships/notesMaster" Target="/ppt/notesMasters/notesMaster1.xml" Id="Rce106e26116a43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3bc8aecaed42ce" /><Relationship Type="http://schemas.openxmlformats.org/officeDocument/2006/relationships/notesMaster" Target="/ppt/notesMasters/notesMaster1.xml" Id="Rd5fdf5b36e654a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127a329f174c21" /><Relationship Type="http://schemas.openxmlformats.org/officeDocument/2006/relationships/notesMaster" Target="/ppt/notesMasters/notesMaster1.xml" Id="R04a039b7615742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1aa8cd728446a7" /><Relationship Type="http://schemas.openxmlformats.org/officeDocument/2006/relationships/notesMaster" Target="/ppt/notesMasters/notesMaster1.xml" Id="R7f69187e869b4f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36d950e4224aaa" /><Relationship Type="http://schemas.openxmlformats.org/officeDocument/2006/relationships/notesMaster" Target="/ppt/notesMasters/notesMaster1.xml" Id="Rb67770be3e8242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7ec6cc6c7843c4" /><Relationship Type="http://schemas.openxmlformats.org/officeDocument/2006/relationships/notesMaster" Target="/ppt/notesMasters/notesMaster1.xml" Id="R7ba8b7997cda40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9be08dd8748b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cefc49ff6e84b1f" /><Relationship Type="http://schemas.openxmlformats.org/officeDocument/2006/relationships/slideLayout" Target="/ppt/slideLayouts/slideLayout2.xml" Id="Ra271ee4293c043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71ee4293c043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a56b73982443ec" /><Relationship Type="http://schemas.openxmlformats.org/officeDocument/2006/relationships/notesSlide" Target="/ppt/notesSlides/notesSlide1.xml" Id="R9cf6ce46977b4f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ca3dfbc364e24" /><Relationship Type="http://schemas.openxmlformats.org/officeDocument/2006/relationships/notesSlide" Target="/ppt/notesSlides/notesSlide2.xml" Id="R0f6780cf451949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1a8d6e4a184f4f" /><Relationship Type="http://schemas.openxmlformats.org/officeDocument/2006/relationships/notesSlide" Target="/ppt/notesSlides/notesSlide3.xml" Id="Rba96cd1b6f4d43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1f2a44ab624422" /><Relationship Type="http://schemas.openxmlformats.org/officeDocument/2006/relationships/notesSlide" Target="/ppt/notesSlides/notesSlide4.xml" Id="R7a5f3bd830b444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9070d852954555" /><Relationship Type="http://schemas.openxmlformats.org/officeDocument/2006/relationships/notesSlide" Target="/ppt/notesSlides/notesSlide5.xml" Id="R4db4b1c5663343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872b4ce67a41e6" /><Relationship Type="http://schemas.openxmlformats.org/officeDocument/2006/relationships/notesSlide" Target="/ppt/notesSlides/notesSlide6.xml" Id="Rc79ef62ef8444e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6c22a7c0de4aa3" /><Relationship Type="http://schemas.openxmlformats.org/officeDocument/2006/relationships/notesSlide" Target="/ppt/notesSlides/notesSlide7.xml" Id="R235ced043f064c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a54c450b1e4f00" /><Relationship Type="http://schemas.openxmlformats.org/officeDocument/2006/relationships/notesSlide" Target="/ppt/notesSlides/notesSlide8.xml" Id="R6a25c005db6d40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fcdd46fb04f37" /><Relationship Type="http://schemas.openxmlformats.org/officeDocument/2006/relationships/notesSlide" Target="/ppt/notesSlides/notesSlide9.xml" Id="R728ace2922444a4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1F9F2-78DE-44E5-A702-022D1440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4C6A63-7085-4E42-8456-E990CBC2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00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100FF"/>
                </a:solidFill>
                <a:latin typeface="Aptos"/>
                <a:ea typeface="Aptos"/>
                <a:cs typeface="Aptos"/>
              </a:rPr>
              <a:t>Pattern A / Thought leadership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50B8F-56BD-4D0A-A765-A0AB059D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7000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UI/UX判断にも、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“調査前の検証層”が必要になる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8384C-5973-44C0-8CD8-1973604A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590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ユーザー調査は最終確認として重要。一方で、日々のUI改善やキャンペーン検討では、調査前に論点を作る仕組みが不足している。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3C938-2719-45F9-8282-F8168CAE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81050"/>
            <a:ext cx="3143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9525">
            <a:solidFill>
              <a:srgbClr val="3333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8916F-2452-4E03-9C08-9989DC5F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811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Issue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88A5E-B695-4616-8E0C-245A3429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100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100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2C509-7BB3-43D5-A167-FFD4CC02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526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社内感覚に依存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6EB1DD-C0A2-4C8B-9A27-5C3990DF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383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誰の経験値を採用するかで結論が揺れる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736CD-2662-45F7-B029-2B007BEE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432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100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100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0C216-9F34-432C-BB2E-60F1FFE2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43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調査が重い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7DE36-C04E-466E-99E9-FC51310F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289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対象者集め・設問設計・日程調整に時間がかかる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E13B6-22D9-4AC9-854A-4D60F211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438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100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100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C3395-F96C-4133-AA79-1FD5D94D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33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論点が粗い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93128-E433-4DF0-86DC-20DEF114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195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D7D7D7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D7D7D7"/>
                </a:solidFill>
                <a:latin typeface="Aptos"/>
                <a:ea typeface="Aptos"/>
                <a:cs typeface="Aptos"/>
              </a:rPr>
              <a:t>何を検証すべきかが曖昧なままレビューに進む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FCB92-879D-4BF9-AC69-D116E3C9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628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951C5-383B-4788-A119-80701577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5572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0D0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D0D0D"/>
                </a:solidFill>
                <a:latin typeface="Aptos"/>
                <a:ea typeface="Aptos"/>
                <a:cs typeface="Aptos"/>
              </a:rPr>
              <a:t>提案: AIペルソナを“調査代替”ではなく、</a:t>
            </a:r>
          </a:p>
          <a:p xmlns:a="http://schemas.openxmlformats.org/drawingml/2006/main">
            <a:pPr algn="l">
              <a:defRPr sz="1575" b="1">
                <a:solidFill>
                  <a:srgbClr val="0D0D0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D0D0D"/>
                </a:solidFill>
                <a:latin typeface="Aptos"/>
                <a:ea typeface="Aptos"/>
                <a:cs typeface="Aptos"/>
              </a:rPr>
              <a:t>調査前の仮説生成エンジンとして使う。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BC168-7E1D-4901-A470-589B8309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A8A8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A8A8A"/>
                </a:solidFill>
                <a:latin typeface="Aptos"/>
                <a:ea typeface="Aptos"/>
                <a:cs typeface="Aptos"/>
              </a:rPr>
              <a:t>Reference grammar: Accenture-style executive thought leadership</a:t>
            </a:r>
          </a:p>
        </p:txBody>
      </p:sp>
    </p:spTree>
    <p:extLst>
      <p:ext uri="{BB962C8B-B14F-4D97-AF65-F5344CB8AC3E}">
        <p14:creationId xmlns:p14="http://schemas.microsoft.com/office/powerpoint/2010/main" val="10497553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A7213B-2069-40B6-9E2B-5CF7E682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D29B2-AEE8-4549-9291-71F4E556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00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100FF"/>
                </a:solidFill>
                <a:latin typeface="Aptos"/>
                <a:ea typeface="Aptos"/>
                <a:cs typeface="Aptos"/>
              </a:rPr>
              <a:t>Pattern A / MVP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84520-817A-4EFE-82F4-C728BAF3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620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0D0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D0D0D"/>
                </a:solidFill>
                <a:latin typeface="Aptos"/>
                <a:ea typeface="Aptos"/>
                <a:cs typeface="Aptos"/>
              </a:rPr>
              <a:t>銀行IB利用者を母集団に、評価軸ごとにA/B案を読む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F2BAC-CF4F-4334-BFF2-DC337992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5D5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5D5D"/>
                </a:solidFill>
                <a:latin typeface="Aptos"/>
                <a:ea typeface="Aptos"/>
                <a:cs typeface="Aptos"/>
              </a:rPr>
              <a:t>勝敗ではなく、目的別の強弱を出す。平均年齢50歳前後の銀行インターネットバンキング利用者20人で、実利用に近い違和感を抽出する。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8D0AE-C592-4A9C-A89C-D71263B0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12A48-0645-4D37-ACAB-0E5FE8DA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3342FD-6AD6-4F1E-845D-C54D60CA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0D0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D0D0D"/>
                </a:solidFill>
                <a:latin typeface="Aptos"/>
                <a:ea typeface="Aptos"/>
                <a:cs typeface="Aptos"/>
              </a:rPr>
              <a:t>Population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53DEF-002E-4CED-8E22-28C8B209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5D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5D5D"/>
                </a:solidFill>
                <a:latin typeface="Aptos"/>
                <a:ea typeface="Aptos"/>
                <a:cs typeface="Aptos"/>
              </a:rPr>
              <a:t>銀行IB利用者20人</a:t>
            </a:r>
          </a:p>
          <a:p xmlns:a="http://schemas.openxmlformats.org/drawingml/2006/main">
            <a:pPr algn="l">
              <a:defRPr sz="1425" b="0">
                <a:solidFill>
                  <a:srgbClr val="5D5D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5D5D"/>
                </a:solidFill>
                <a:latin typeface="Aptos"/>
                <a:ea typeface="Aptos"/>
                <a:cs typeface="Aptos"/>
              </a:rPr>
              <a:t>20代から70代まで</a:t>
            </a:r>
          </a:p>
          <a:p xmlns:a="http://schemas.openxmlformats.org/drawingml/2006/main">
            <a:pPr algn="l">
              <a:defRPr sz="1425" b="0">
                <a:solidFill>
                  <a:srgbClr val="5D5D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5D5D"/>
                </a:solidFill>
                <a:latin typeface="Aptos"/>
                <a:ea typeface="Aptos"/>
                <a:cs typeface="Aptos"/>
              </a:rPr>
              <a:t>平均年齢50歳前後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C99CC-3BBE-47A1-BC46-B0B625B7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50CB2-E79D-4FA6-A363-4C9A64C2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9EE72-F98E-4DE0-8EF9-37767BDA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956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Axes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8FE74-BC00-489E-9986-D3E1D821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290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8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8E8"/>
                </a:solidFill>
                <a:latin typeface="Aptos"/>
                <a:ea typeface="Aptos"/>
                <a:cs typeface="Aptos"/>
              </a:rPr>
              <a:t>毎日使いたいか</a:t>
            </a:r>
          </a:p>
          <a:p xmlns:a="http://schemas.openxmlformats.org/drawingml/2006/main">
            <a:pPr algn="l">
              <a:defRPr sz="1425" b="0">
                <a:solidFill>
                  <a:srgbClr val="E8E8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8E8"/>
                </a:solidFill>
                <a:latin typeface="Aptos"/>
                <a:ea typeface="Aptos"/>
                <a:cs typeface="Aptos"/>
              </a:rPr>
              <a:t>毎月確認したいか</a:t>
            </a:r>
          </a:p>
          <a:p xmlns:a="http://schemas.openxmlformats.org/drawingml/2006/main">
            <a:pPr algn="l">
              <a:defRPr sz="1425" b="0">
                <a:solidFill>
                  <a:srgbClr val="E8E8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8E8"/>
                </a:solidFill>
                <a:latin typeface="Aptos"/>
                <a:ea typeface="Aptos"/>
                <a:cs typeface="Aptos"/>
              </a:rPr>
              <a:t>安心して見られるか</a:t>
            </a:r>
          </a:p>
          <a:p xmlns:a="http://schemas.openxmlformats.org/drawingml/2006/main">
            <a:pPr algn="l">
              <a:defRPr sz="1425" b="0">
                <a:solidFill>
                  <a:srgbClr val="E8E8E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8E8E8"/>
                </a:solidFill>
                <a:latin typeface="Aptos"/>
                <a:ea typeface="Aptos"/>
                <a:cs typeface="Aptos"/>
              </a:rPr>
              <a:t>迷わず確認できるか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41D72-EF37-44C4-B41A-1CFD4972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956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73F06-5FCE-47B7-8144-A31E4C71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9560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E7A25-119A-488C-B4BE-D48EDCC3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956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D0D0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D0D0D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D0702-BCAF-4C64-A59B-7EC8DA1A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290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5D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5D5D"/>
                </a:solidFill>
                <a:latin typeface="Aptos"/>
                <a:ea typeface="Aptos"/>
                <a:cs typeface="Aptos"/>
              </a:rPr>
              <a:t>目的別スコア</a:t>
            </a:r>
          </a:p>
          <a:p xmlns:a="http://schemas.openxmlformats.org/drawingml/2006/main">
            <a:pPr algn="l">
              <a:defRPr sz="1425" b="0">
                <a:solidFill>
                  <a:srgbClr val="5D5D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5D5D"/>
                </a:solidFill>
                <a:latin typeface="Aptos"/>
                <a:ea typeface="Aptos"/>
                <a:cs typeface="Aptos"/>
              </a:rPr>
              <a:t>ペルソナ別コメント</a:t>
            </a:r>
          </a:p>
          <a:p xmlns:a="http://schemas.openxmlformats.org/drawingml/2006/main">
            <a:pPr algn="l">
              <a:defRPr sz="1425" b="0">
                <a:solidFill>
                  <a:srgbClr val="5D5D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5D5D"/>
                </a:solidFill>
                <a:latin typeface="Aptos"/>
                <a:ea typeface="Aptos"/>
                <a:cs typeface="Aptos"/>
              </a:rPr>
              <a:t>次の検証仮説</a:t>
            </a:r>
          </a:p>
          <a:p xmlns:a="http://schemas.openxmlformats.org/drawingml/2006/main">
            <a:pPr algn="l">
              <a:defRPr sz="1425" b="0">
                <a:solidFill>
                  <a:srgbClr val="5D5D5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5D5D"/>
                </a:solidFill>
                <a:latin typeface="Aptos"/>
                <a:ea typeface="Aptos"/>
                <a:cs typeface="Aptos"/>
              </a:rPr>
              <a:t>質問票ドラフト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F47AC-88F9-4AF7-8FCB-5CB41D7B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0D0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D0D0D"/>
                </a:solidFill>
                <a:latin typeface="Aptos"/>
                <a:ea typeface="Aptos"/>
                <a:cs typeface="Aptos"/>
              </a:rPr>
              <a:t>ポイント: 送金導線の最適化ではなく、日常接点・月次確認・安心感のバランスを評価する。</a:t>
            </a:r>
          </a:p>
        </p:txBody>
      </p:sp>
    </p:spTree>
    <p:extLst>
      <p:ext uri="{BB962C8B-B14F-4D97-AF65-F5344CB8AC3E}">
        <p14:creationId xmlns:p14="http://schemas.microsoft.com/office/powerpoint/2010/main" val="5592156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D20B79-39BE-4063-A701-824FAE12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1C4EB-B64C-49AB-8484-C32D263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00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100FF"/>
                </a:solidFill>
                <a:latin typeface="Aptos"/>
                <a:ea typeface="Aptos"/>
                <a:cs typeface="Aptos"/>
              </a:rPr>
              <a:t>Pattern A /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E5386-F7E2-4128-AC30-D471A91D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0D0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D0D0D"/>
                </a:solidFill>
                <a:latin typeface="Aptos"/>
                <a:ea typeface="Aptos"/>
                <a:cs typeface="Aptos"/>
              </a:rPr>
              <a:t>依頼事項は、大規模開発ではなく</a:t>
            </a:r>
          </a:p>
          <a:p xmlns:a="http://schemas.openxmlformats.org/drawingml/2006/main">
            <a:pPr algn="l">
              <a:defRPr sz="2850" b="1">
                <a:solidFill>
                  <a:srgbClr val="0D0D0D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D0D0D"/>
                </a:solidFill>
                <a:latin typeface="Aptos"/>
                <a:ea typeface="Aptos"/>
                <a:cs typeface="Aptos"/>
              </a:rPr>
              <a:t>“検証できる状態”を作ること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5300B-4E34-46B9-A5B5-D8F17A6E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E0C07-3532-4B30-AA21-DDF074E9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57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19FD4-B840-4FD0-B670-66F66515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95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0D0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D0D0D"/>
                </a:solidFill>
                <a:latin typeface="Aptos"/>
                <a:ea typeface="Aptos"/>
                <a:cs typeface="Aptos"/>
              </a:rPr>
              <a:t>OpenAI連携PoC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8E76F3-FE55-4EA6-A484-6863E1DF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57500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UI画像A/Bを読み、評価軸別レビューをJSONで返す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C9F61-53AA-424C-9F12-32A26FA6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9565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92210-E3FF-4458-AB02-F65C62D5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00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B9D46-E314-46C3-A90F-A61183B4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242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4938D-B631-4AC4-B30E-06434BD2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623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0D0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D0D0D"/>
                </a:solidFill>
                <a:latin typeface="Aptos"/>
                <a:ea typeface="Aptos"/>
                <a:cs typeface="Aptos"/>
              </a:rPr>
              <a:t>評価設計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8246B-4915-46F5-A718-371DBFDB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24300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母集団・評価軸・出力形式をテンプレート化する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93956-EE40-4225-B00F-F95136F7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12AC4-78DF-4D30-9320-50003A42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B23E6-A95F-4902-BC37-9F2C591A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910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7EF92E-85C7-4EE3-A67F-5E30FDC1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291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0D0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D0D0D"/>
                </a:solidFill>
                <a:latin typeface="Aptos"/>
                <a:ea typeface="Aptos"/>
                <a:cs typeface="Aptos"/>
              </a:rPr>
              <a:t>安全運用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1A403-0914-41FC-9C09-349DF06E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91100"/>
            <a:ext cx="5810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6666"/>
                </a:solidFill>
                <a:latin typeface="Aptos"/>
                <a:ea typeface="Aptos"/>
                <a:cs typeface="Aptos"/>
              </a:rPr>
              <a:t>機密画像・実顧客データを使わない保存/ログ方針を定義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92238-1C65-458A-A73C-B6833392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29250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01FC1-BB94-4F46-9FD6-57A53447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287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D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B7D70F-FCA2-4BCE-8E3A-862D3F53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573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判断したいこと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5FAAF-2B4F-4E16-9E4A-88AB156A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57350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8E8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E8E8"/>
                </a:solidFill>
                <a:latin typeface="Aptos"/>
                <a:ea typeface="Aptos"/>
                <a:cs typeface="Aptos"/>
              </a:rPr>
              <a:t>本調査前の仮説品質とレビュー準備時間が改善するか。</a:t>
            </a:r>
          </a:p>
        </p:txBody>
      </p:sp>
    </p:spTree>
    <p:extLst>
      <p:ext uri="{BB962C8B-B14F-4D97-AF65-F5344CB8AC3E}">
        <p14:creationId xmlns:p14="http://schemas.microsoft.com/office/powerpoint/2010/main" val="9878723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9C0143-BED5-4883-A8C2-F800B1CD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EC77A-A7C0-4765-A2E1-E4E8D2AF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5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50DB1-8429-490F-B4D2-429EA00D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5B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5B47"/>
                </a:solidFill>
                <a:latin typeface="Aptos"/>
                <a:ea typeface="Aptos"/>
                <a:cs typeface="Aptos"/>
              </a:rPr>
              <a:t>Pattern B / Issue tree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8C607-50DA-4233-BF2D-AEA74693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1915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課題は“調査ができない”ではなく、</a:t>
            </a:r>
          </a:p>
          <a:p xmlns:a="http://schemas.openxmlformats.org/drawingml/2006/main">
            <a:pPr algn="l">
              <a:defRPr sz="2700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調査前の論点形成が弱いこと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50ADA-339C-4205-A346-01CB2931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2667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5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08E88-8BDA-41CA-AC45-40B3F533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UI/UX判断の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品質が安定しない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A1DD9-1294-4A2F-9510-D481E274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67100"/>
            <a:ext cx="108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2DF81-CBE6-466A-A6E2-618A7F10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86000"/>
            <a:ext cx="276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4C270-1677-4681-A9F0-D09018F0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574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5B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5B47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0E297-C4CB-40BD-8CCB-165B128A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241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ユーザー視点が不足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7BBDA-54D0-4841-8605-CF88A208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2895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社内の感覚・過去経験・声の大きさに寄る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9344C-5C15-4E60-8AB3-50BCD447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67100"/>
            <a:ext cx="108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D8D2D-BEB1-4FBE-9063-292F6116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76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5DA3F-07B1-4C54-BF71-B5FB638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00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5B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5B47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A27D3-5206-4C39-B758-4A21A168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76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検証設計が後追い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57D73-038B-4D35-BEAF-8A5E03A7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815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何を聞くべきかが固まる前に案が進む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A88CF-5C6C-4BCE-A521-7B64C9A8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67100"/>
            <a:ext cx="432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F956C1-C043-4200-ACB8-7D954F4B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52750"/>
            <a:ext cx="2762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C42B20-A78E-4011-B697-6D3EA375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24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5B4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05B47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091254-7901-4A06-93D1-F7E5DA0D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909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改善仮説が粗い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A9FF2-BD51-4165-93B2-D0985DE4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本調査やレビューで確認すべき論点が曖昧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D365CF-A4EC-41D4-BF93-5D3079B1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809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B9E1C-AD55-4D48-A3A9-B3393EB4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95975"/>
            <a:ext cx="742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論点: AIで“正解”を出すのではなく、調査前に検証すべき問いを増やし、荒い案を潰す。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001167-9779-4E72-9056-AB451AA7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62700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Reference grammar: BCG-style issue decomposition / customer value framing</a:t>
            </a:r>
          </a:p>
        </p:txBody>
      </p:sp>
    </p:spTree>
    <p:extLst>
      <p:ext uri="{BB962C8B-B14F-4D97-AF65-F5344CB8AC3E}">
        <p14:creationId xmlns:p14="http://schemas.microsoft.com/office/powerpoint/2010/main" val="3175874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02F5E7-58CB-429B-98D3-687871C4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140EB-177C-442B-A27E-E69A98EC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5B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5B47"/>
                </a:solidFill>
                <a:latin typeface="Aptos"/>
                <a:ea typeface="Aptos"/>
                <a:cs typeface="Aptos"/>
              </a:rPr>
              <a:t>Pattern B / 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4E0B1-06A4-4B0E-B236-D352428D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7715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母集団 × 評価軸 × 出力を分けると、</a:t>
            </a:r>
          </a:p>
          <a:p xmlns:a="http://schemas.openxmlformats.org/drawingml/2006/main">
            <a:pPr algn="l">
              <a:defRPr sz="2700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AIレビューは業務設計になる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D5066-0F19-4A31-8F6A-793ADE66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704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62706A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62706A"/>
                </a:solidFill>
                <a:latin typeface="Aptos"/>
                <a:ea typeface="Aptos"/>
                <a:cs typeface="Aptos"/>
              </a:rPr>
              <a:t>銀行IB利用者の現実に近いペルソナを置き、施策目的ごとに評価軸を切り替えることで、単なるA/B投票から脱却する。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4C635-5405-4116-B55D-EAE78E65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028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A8D1BA-D52F-4052-9796-867875FD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028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5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1A7A2-0666-4ECA-A234-60C0BFE6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Population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4C992-B8E5-4323-AEF8-222D49EA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銀行IB利用者20人</a:t>
            </a:r>
          </a:p>
          <a:p xmlns:a="http://schemas.openxmlformats.org/drawingml/2006/main">
            <a:pPr algn="l">
              <a:defRPr sz="1350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平均年齢50歳前後</a:t>
            </a:r>
          </a:p>
          <a:p xmlns:a="http://schemas.openxmlformats.org/drawingml/2006/main">
            <a:pPr algn="l">
              <a:defRPr sz="1350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利用頻度・金融リテラシーを分散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CD868E-8067-4B0E-80EA-75004C6C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290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5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5884C-511C-495E-B0CC-3C04362E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76550"/>
            <a:ext cx="3028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51BBC-8AD0-43EE-A3FA-96EB5644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76550"/>
            <a:ext cx="3028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3DDD7-96A8-46C2-AFC1-3BA4A531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099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Evaluation axes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E1349-9894-41F8-A1B9-73171DCB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毎日使いたいか</a:t>
            </a:r>
          </a:p>
          <a:p xmlns:a="http://schemas.openxmlformats.org/drawingml/2006/main">
            <a:pPr algn="l">
              <a:defRPr sz="1350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毎月確認したいか</a:t>
            </a:r>
          </a:p>
          <a:p xmlns:a="http://schemas.openxmlformats.org/drawingml/2006/main">
            <a:pPr algn="l">
              <a:defRPr sz="1350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安心して見られるか</a:t>
            </a:r>
          </a:p>
          <a:p xmlns:a="http://schemas.openxmlformats.org/drawingml/2006/main">
            <a:pPr algn="l">
              <a:defRPr sz="1350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必要情報に迷わないか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06DD9-8F9D-49F4-B851-BA8EEE77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29050"/>
            <a:ext cx="19050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5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BA032-F264-4CBE-88EC-BA15F0DE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30289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5EC8D-8C06-4A1C-9800-03D66DC6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3028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F0BED-2D9D-49B8-9117-74EF5AA3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099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Synthesis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DDE8F-8069-40BC-8403-C215A993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3855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目的別の強弱</a:t>
            </a:r>
          </a:p>
          <a:p xmlns:a="http://schemas.openxmlformats.org/drawingml/2006/main">
            <a:pPr algn="l">
              <a:defRPr sz="1350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年齢層別の懸念</a:t>
            </a:r>
          </a:p>
          <a:p xmlns:a="http://schemas.openxmlformats.org/drawingml/2006/main">
            <a:pPr algn="l">
              <a:defRPr sz="1350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ハイブリッド案</a:t>
            </a:r>
          </a:p>
          <a:p xmlns:a="http://schemas.openxmlformats.org/drawingml/2006/main">
            <a:pPr algn="l">
              <a:defRPr sz="1350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質問票ドラフト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38A03-8D41-41D1-97E5-096EF189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962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5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76B74-F750-4338-AB2C-F603CC50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866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MVPの価値: 実調査前に、調査対象・質問・改善案の“外さない初期案”を作る。</a:t>
            </a:r>
          </a:p>
        </p:txBody>
      </p:sp>
    </p:spTree>
    <p:extLst>
      <p:ext uri="{BB962C8B-B14F-4D97-AF65-F5344CB8AC3E}">
        <p14:creationId xmlns:p14="http://schemas.microsoft.com/office/powerpoint/2010/main" val="936665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EBCC7C-14DC-4384-8DB6-56FCDF91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07B75-929F-4E2E-A005-CFC10C6F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5B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5B47"/>
                </a:solidFill>
                <a:latin typeface="Aptos"/>
                <a:ea typeface="Aptos"/>
                <a:cs typeface="Aptos"/>
              </a:rPr>
              <a:t>Pattern B / Decision request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3A27D-2E74-4196-9A9A-7D5FC5B2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096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承認してほしいのは、AI導入ではなく</a:t>
            </a:r>
          </a:p>
          <a:p xmlns:a="http://schemas.openxmlformats.org/drawingml/2006/main">
            <a:pPr algn="l">
              <a:defRPr sz="2700" b="1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01C"/>
                </a:solidFill>
                <a:latin typeface="Aptos"/>
                <a:ea typeface="Aptos"/>
                <a:cs typeface="Aptos"/>
              </a:rPr>
              <a:t>“小さな検証”の開始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4DC89-E2BB-4A30-AF8B-B49D8FA5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6858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F9CA1-30AD-443E-A5C1-FA48FCE1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1B80F-AE00-465A-BA13-477DCD92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5B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5B47"/>
                </a:solidFill>
                <a:latin typeface="Aptos"/>
                <a:ea typeface="Aptos"/>
                <a:cs typeface="Aptos"/>
              </a:rPr>
              <a:t>検証テーマ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19AFD-FF19-420D-896B-275C1423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098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銀行アプリトップページA/Bの仮説生成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17D13-AE69-4F14-AE56-5B1E095A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71793-BF15-47FA-9D09-D8A28A36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5B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5B47"/>
                </a:solidFill>
                <a:latin typeface="Aptos"/>
                <a:ea typeface="Aptos"/>
                <a:cs typeface="Aptos"/>
              </a:rPr>
              <a:t>入力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F4BF2-F653-44C8-A13C-42B82DE9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813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架空UI画像、評価軸、母集団条件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A690A1-B9C6-4723-A5B2-4318D7A2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F9133B-BCD2-4329-A92E-69C6A8D6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5B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5B47"/>
                </a:solidFill>
                <a:latin typeface="Aptos"/>
                <a:ea typeface="Aptos"/>
                <a:cs typeface="Aptos"/>
              </a:rPr>
              <a:t>出力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A7A6B-B532-4644-851E-B9BD1F0C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528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目的別スコア、ペルソナコメント、懸念、次の質問票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883A74-23DC-47B2-AD4C-D57DC3F1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AD223-93AD-46C9-98A2-520B16E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5B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5B47"/>
                </a:solidFill>
                <a:latin typeface="Aptos"/>
                <a:ea typeface="Aptos"/>
                <a:cs typeface="Aptos"/>
              </a:rPr>
              <a:t>非対象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C7192-FB08-4C71-AC0B-DF266AAE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243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実顧客データ保存、社内機密画像投入、自動意思決定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18FB6-6A9C-4AFA-957E-B028E800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D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82E74-2385-464C-9702-57FE0884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5B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5B47"/>
                </a:solidFill>
                <a:latin typeface="Aptos"/>
                <a:ea typeface="Aptos"/>
                <a:cs typeface="Aptos"/>
              </a:rPr>
              <a:t>判断基準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20F71D-8B6F-45D4-BED0-9EE2165B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95850"/>
            <a:ext cx="428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17201C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17201C"/>
                </a:solidFill>
                <a:latin typeface="Aptos"/>
                <a:ea typeface="Aptos"/>
                <a:cs typeface="Aptos"/>
              </a:rPr>
              <a:t>レビュー準備時間と本調査前の仮説品質が改善するか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24058-65CB-47DD-A44E-600C1BE8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857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5B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D8FA6-C8E2-4387-B70A-CAC47E8B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依頼事項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A7B19-7976-4C03-BC57-3100B34F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62300"/>
            <a:ext cx="219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F2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6F2EE"/>
                </a:solidFill>
                <a:latin typeface="Aptos"/>
                <a:ea typeface="Aptos"/>
                <a:cs typeface="Aptos"/>
              </a:rPr>
              <a:t>1. OpenAI画像理解の技術検証</a:t>
            </a:r>
          </a:p>
          <a:p xmlns:a="http://schemas.openxmlformats.org/drawingml/2006/main">
            <a:pPr algn="l">
              <a:defRPr sz="1350" b="0">
                <a:solidFill>
                  <a:srgbClr val="E6F2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6F2EE"/>
                </a:solidFill>
                <a:latin typeface="Aptos"/>
                <a:ea typeface="Aptos"/>
                <a:cs typeface="Aptos"/>
              </a:rPr>
              <a:t>2. ペルソナ/評価軸プロンプト設計</a:t>
            </a:r>
          </a:p>
          <a:p xmlns:a="http://schemas.openxmlformats.org/drawingml/2006/main">
            <a:pPr algn="l">
              <a:defRPr sz="1350" b="0">
                <a:solidFill>
                  <a:srgbClr val="E6F2E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6F2EE"/>
                </a:solidFill>
                <a:latin typeface="Aptos"/>
                <a:ea typeface="Aptos"/>
                <a:cs typeface="Aptos"/>
              </a:rPr>
              <a:t>3. セキュリティ・ログ方針整理</a:t>
            </a:r>
          </a:p>
        </p:txBody>
      </p:sp>
    </p:spTree>
    <p:extLst>
      <p:ext uri="{BB962C8B-B14F-4D97-AF65-F5344CB8AC3E}">
        <p14:creationId xmlns:p14="http://schemas.microsoft.com/office/powerpoint/2010/main" val="3087391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CE36FE-A544-4B75-B298-78D3C045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5AD2BF-7849-4570-B3BC-B2DA33D2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1C77D-BD23-4E43-94BD-E6452E40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Pattern C / Enterprise IR style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A5D85-5209-4EE4-B6A9-F3000CF6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723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B1B1B"/>
                </a:solidFill>
                <a:latin typeface="Aptos"/>
                <a:ea typeface="Aptos"/>
                <a:cs typeface="Aptos"/>
              </a:rPr>
              <a:t>UI/UX判断プロセス高度化に向けた</a:t>
            </a:r>
          </a:p>
          <a:p xmlns:a="http://schemas.openxmlformats.org/drawingml/2006/main">
            <a:pPr algn="l">
              <a:defRPr sz="2325" b="1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B1B1B"/>
                </a:solidFill>
                <a:latin typeface="Aptos"/>
                <a:ea typeface="Aptos"/>
                <a:cs typeface="Aptos"/>
              </a:rPr>
              <a:t>AIペルソナレビューMVPの位置づけ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15989-393C-49A0-A6A8-314097B2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施策検討の上流で、顧客視点の仮説・懸念・確認事項を構造化し、レビュー品質と検討速度の両立を図る。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A79AB-A8C0-4D02-BDDB-E219F6D3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A3B1D-3520-4FA9-BEF0-249D9857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1B1B"/>
                </a:solidFill>
                <a:latin typeface="Aptos"/>
                <a:ea typeface="Aptos"/>
                <a:cs typeface="Aptos"/>
              </a:rPr>
              <a:t>現状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B02B3-E2B6-4631-990C-E66AAF45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813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FC240-025B-431F-A688-D8A0F043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14650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課題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E5401-4762-4F64-A73E-EE5F417D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32112-6C46-4851-9E10-A6803959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14650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MVPでの対応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842775-8060-48C9-B5EE-C0A69395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99602-CB58-4F9F-9E1C-F5BD4AA6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14650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期待効果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54971-C953-449E-95C3-91C11041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BEBEF1-3F59-421A-9D94-26AE4F1E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社内経験・感覚に基づくレビュー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0C7C2-58FD-4508-A6EC-5A3128D4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194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821F69-3457-48A0-A972-5D7331EF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調査実施前の顧客視点が不足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94FFC-0C04-4E0F-A8E8-2957FF7A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194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57F64-291A-46ED-9ADB-D93CA809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9090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AIペルソナ20人でA/B案を評価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4D9DA-1EB2-44CB-9AD4-DED2B590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194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6F4A7-E3BF-461C-B927-CEDC16C5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9090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初期仮説と質問票を短時間で作成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98E43F-86E9-481A-BD67-E690BDF8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B6065A-3BDA-4B05-9B68-476F7605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UI/キャンペーン案ごとに論点がばらつく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9C9C1-403B-41F2-8A33-474CCA14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005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51FB86-6BEB-482D-B59F-335FF47B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7195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何を評価するかが案件ごとに曖昧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2131F-E15A-45F4-B153-85ECA8A8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005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AA6974-DB4F-4CDC-8005-B2493B7B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7195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評価軸を事前設定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623655-1C9C-4B7D-BE7B-6D3A3BD3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D48591-C1D9-4859-BE32-722109B0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目的別の強弱を比較可能にする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D8EFAF-1763-4D9A-98AC-D9200D87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815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4BDEBE-CC85-4363-A28C-9C4ADCDA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実調査は重要だが実施負荷が高い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7C2241-7D4D-4DC0-BC5F-B5AB810D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7815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E4C040-3FC2-48C3-862E-68455FEF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改善サイクルに間に合わない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89D3E3-7DCB-4918-B8ED-5D95A1D8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815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2C0F00-D77E-4147-8D71-D23D0F28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5300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機密データなしで小さく検証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734E50-82AD-48FF-8556-B0E75307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815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1E71F4-B3C8-4029-AD39-52A60344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5300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安全に業務適用可能性を確認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3EA284-C1F7-4188-8E9F-0F1DC19A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38900"/>
            <a:ext cx="476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Reference grammar: MUFG-style enterprise/IR table and initiative framing</a:t>
            </a:r>
          </a:p>
        </p:txBody>
      </p:sp>
    </p:spTree>
    <p:extLst>
      <p:ext uri="{BB962C8B-B14F-4D97-AF65-F5344CB8AC3E}">
        <p14:creationId xmlns:p14="http://schemas.microsoft.com/office/powerpoint/2010/main" val="16896794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FC17CC-2932-4B81-AC2B-9699C360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F96A5-D970-4762-8A76-A85308FF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3D758-B47C-441A-965B-A2431B54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Pattern C / MVP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02692D-4090-4E37-86FB-91BAC739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733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B1B1B"/>
                </a:solidFill>
                <a:latin typeface="Aptos"/>
                <a:ea typeface="Aptos"/>
                <a:cs typeface="Aptos"/>
              </a:rPr>
              <a:t>検証範囲は、母集団・評価軸・出力品質の</a:t>
            </a:r>
          </a:p>
          <a:p xmlns:a="http://schemas.openxmlformats.org/drawingml/2006/main">
            <a:pPr algn="l">
              <a:defRPr sz="2325" b="1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B1B1B"/>
                </a:solidFill>
                <a:latin typeface="Aptos"/>
                <a:ea typeface="Aptos"/>
                <a:cs typeface="Aptos"/>
              </a:rPr>
              <a:t>3点に限定する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BF6BF-4424-4DF0-BB4E-EB863F01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16160-C190-4C68-8B4B-A7EFE4AB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母集団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F23A7-4C01-4023-BE17-E07F547A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28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銀行IB利用者20人</a:t>
            </a:r>
          </a:p>
          <a:p xmlns:a="http://schemas.openxmlformats.org/drawingml/2006/main">
            <a:pPr algn="l">
              <a:defRPr sz="13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平均年齢50歳前後</a:t>
            </a:r>
          </a:p>
          <a:p xmlns:a="http://schemas.openxmlformats.org/drawingml/2006/main">
            <a:pPr algn="l">
              <a:defRPr sz="13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年齢・利用頻度・金融リテラシーを分散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6EC16-7A9C-40FF-82AF-AB7781C4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4AB34-26F5-46AD-8492-FF4B3909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6060"/>
                </a:solidFill>
                <a:latin typeface="Aptos"/>
                <a:ea typeface="Aptos"/>
                <a:cs typeface="Aptos"/>
              </a:rPr>
              <a:t>想定利用者に近いレビュー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96748-77CB-48B5-9341-4F72CE83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9080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4C61C-95D1-4FCB-9ACA-3545A0AB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76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評価軸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93FAAD-B0E4-44B4-9FF4-C2BCC9BF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90900"/>
            <a:ext cx="228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毎日利用意向</a:t>
            </a:r>
          </a:p>
          <a:p xmlns:a="http://schemas.openxmlformats.org/drawingml/2006/main">
            <a:pPr algn="l">
              <a:defRPr sz="13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月次確認意向</a:t>
            </a:r>
          </a:p>
          <a:p xmlns:a="http://schemas.openxmlformats.org/drawingml/2006/main">
            <a:pPr algn="l">
              <a:defRPr sz="13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安心感</a:t>
            </a:r>
          </a:p>
          <a:p xmlns:a="http://schemas.openxmlformats.org/drawingml/2006/main">
            <a:pPr algn="l">
              <a:defRPr sz="13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情報探索性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1F305-EEFE-46D8-A9E4-A7A3FA19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283BC-7AEE-432E-A334-141DE38E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482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6060"/>
                </a:solidFill>
                <a:latin typeface="Aptos"/>
                <a:ea typeface="Aptos"/>
                <a:cs typeface="Aptos"/>
              </a:rPr>
              <a:t>施策目的別の強弱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C8F1A-CACA-4195-BEA8-9ADB27F5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9080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D3A3C0-39BC-47CF-BE4C-334A823E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出力品質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5CC2C8-8921-40E5-BB3B-D2C7A6C3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228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スコア</a:t>
            </a:r>
          </a:p>
          <a:p xmlns:a="http://schemas.openxmlformats.org/drawingml/2006/main">
            <a:pPr algn="l">
              <a:defRPr sz="13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ペルソナ別コメント</a:t>
            </a:r>
          </a:p>
          <a:p xmlns:a="http://schemas.openxmlformats.org/drawingml/2006/main">
            <a:pPr algn="l">
              <a:defRPr sz="13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懸念</a:t>
            </a:r>
          </a:p>
          <a:p xmlns:a="http://schemas.openxmlformats.org/drawingml/2006/main">
            <a:pPr algn="l">
              <a:defRPr sz="135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次回質問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55352-E6B7-4786-8CFD-80695F2E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0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C641F1-C42D-47BD-BAC3-BC764FF2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482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06060"/>
                </a:solidFill>
                <a:latin typeface="Aptos"/>
                <a:ea typeface="Aptos"/>
                <a:cs typeface="Aptos"/>
              </a:rPr>
              <a:t>本調査前の使える仮説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63CA8-497E-42DC-A268-6398CF3C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962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7D911-515C-4721-A7C0-1D791D4B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非対象: AIによる自動意思決定、実顧客データの保存、機密画面の投入</a:t>
            </a:r>
          </a:p>
        </p:txBody>
      </p:sp>
    </p:spTree>
    <p:extLst>
      <p:ext uri="{BB962C8B-B14F-4D97-AF65-F5344CB8AC3E}">
        <p14:creationId xmlns:p14="http://schemas.microsoft.com/office/powerpoint/2010/main" val="1082528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34AA94-B5E5-4D92-9DA4-77A21F81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628E14-8D66-417B-AF33-4ADE6B00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25574-02E0-423A-8CE0-8CC5AA5B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Pattern C /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2D556-EF4B-4EE3-B589-6E158F38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704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B1B1B"/>
                </a:solidFill>
                <a:latin typeface="Aptos"/>
                <a:ea typeface="Aptos"/>
                <a:cs typeface="Aptos"/>
              </a:rPr>
              <a:t>MVP検証に向けた依頼事項と</a:t>
            </a:r>
          </a:p>
          <a:p xmlns:a="http://schemas.openxmlformats.org/drawingml/2006/main">
            <a:pPr algn="l">
              <a:defRPr sz="2325" b="1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B1B1B"/>
                </a:solidFill>
                <a:latin typeface="Aptos"/>
                <a:ea typeface="Aptos"/>
                <a:cs typeface="Aptos"/>
              </a:rPr>
              <a:t>初期マイルストーン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8ED03-9676-4C19-834E-069AB157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80725-6599-49A7-82E1-86F6CE20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1828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項目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65240-1E1C-4A76-A639-76A9431A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8125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93196-F5DE-4698-B394-A8B1DA14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05075"/>
            <a:ext cx="2876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依頼事項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B02DF-91B3-44EE-AC6F-A3702FEC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4EC9F-15C3-4BFE-A08A-C7473FE6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05075"/>
            <a:ext cx="2400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成果物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28897F-2B29-40C9-AE17-15AD944C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812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853CD-30FB-4E04-A93F-80249E9A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05075"/>
            <a:ext cx="2114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判断基準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FC007-2F5C-4A16-A2BB-C12B260D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FC669-0A5B-4A0D-A9CF-F89E7AFB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技術検証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E6878-A11A-4650-938E-61F5906E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003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D7A4FB-DFF6-4571-B844-3D43F7F4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90850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OpenAIでUI画像A/Bを評価軸別に読み取る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C1D7A-CB2C-4201-82D2-FA4381B4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003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F53AE9-60D7-4ABF-8601-36FB85DE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90850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API試作</a:t>
            </a:r>
          </a:p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出力JSON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4BA76-875B-4170-BD79-E7514576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78384-CFC5-4415-8231-8CEDB07A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908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期待形式で安定出力できる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76C86-286C-4BD5-9EAD-DEBC2884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FC2D4-D9BA-4FD5-99E6-219310F4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評価設計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ED358E-5F21-4D5C-9C24-CD542B12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385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BEAB98-1CBD-4A9D-B58F-2DBAD26D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29050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銀行IB利用者の母集団と評価軸をテンプレート化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F945B7-F024-4B63-9BD5-C0D83CC9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385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1A5C0-A78E-4F3B-A237-EE6DF45F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29050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ペルソナ定義</a:t>
            </a:r>
          </a:p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評価軸一覧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9E5C25-1A21-4100-94FA-E76628DE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9BD47A-4B65-450D-AC27-3F829FE6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案件ごとに再利用できる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F2CBA7-46E6-4143-B75C-E513357B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DB434B-17B6-4851-B705-A03D2253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828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71920"/>
                </a:solidFill>
                <a:latin typeface="Aptos"/>
                <a:ea typeface="Aptos"/>
                <a:cs typeface="Aptos"/>
              </a:rPr>
              <a:t>運用設計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12E6BB-CB6D-4703-BB89-FE8E1A1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7675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D3291E-999B-4EC6-AEEE-54E3D1A6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67250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機密画像・実顧客データを使わない方針を定義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869143-65A8-4E35-A9F1-96CAD976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2667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F5C090-0816-4953-BA31-2AB3B65B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67250"/>
            <a:ext cx="2400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保存方針</a:t>
            </a:r>
          </a:p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利用ルール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0058C0-6409-4411-8223-8C7F8CBB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7675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7A2CEF-4E60-4440-A086-353E4F86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667250"/>
            <a:ext cx="2114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安全に試験導入できる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CDFBBC-5497-4055-95F4-01C5F8B0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B1B1B"/>
                </a:solidFill>
                <a:latin typeface="Aptos"/>
                <a:ea typeface="Aptos"/>
                <a:cs typeface="Aptos"/>
              </a:rPr>
              <a:t>承認依頼: まず2-4週間で、実務に耐える仮説生成品質が出るかを検証する。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031AF3-ACA3-403B-AD70-A907BB90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7334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0606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06060"/>
                </a:solidFill>
                <a:latin typeface="Aptos"/>
                <a:ea typeface="Aptos"/>
                <a:cs typeface="Aptos"/>
              </a:rPr>
              <a:t>補足: 本MVPはユーザー調査の代替ではなく、調査前の論点形成・レビュー準備を支援するもの。</a:t>
            </a:r>
          </a:p>
        </p:txBody>
      </p:sp>
    </p:spTree>
    <p:extLst>
      <p:ext uri="{BB962C8B-B14F-4D97-AF65-F5344CB8AC3E}">
        <p14:creationId xmlns:p14="http://schemas.microsoft.com/office/powerpoint/2010/main" val="924358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2026-05-07T13:51:59.5490000Z</dcterms:created>
  <dcterms:modified xsi:type="dcterms:W3CDTF">2026-05-07T13:51:59.5490000Z</dcterms:modified>
</coreProperties>
</file>