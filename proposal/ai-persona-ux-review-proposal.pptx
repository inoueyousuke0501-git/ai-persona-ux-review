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dfbd5a24d94898" /><Relationship Type="http://schemas.openxmlformats.org/officeDocument/2006/relationships/extended-properties" Target="/docProps/app.xml" Id="R263a6cfaa5a54f68" /><Relationship Type="http://schemas.openxmlformats.org/officeDocument/2006/relationships/officeDocument" Target="/ppt/presentation.xml" Id="Rea2b54aea8fa42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cb45a9f9a34ae6"/>
  </p:sldMasterIdLst>
  <p:notesMasterIdLst>
    <p:notesMasterId xmlns:r="http://schemas.openxmlformats.org/officeDocument/2006/relationships" r:id="R3eed2a8d2d7c46ff"/>
  </p:notesMasterIdLst>
  <p:sldIdLst>
    <p:sldId xmlns:r="http://schemas.openxmlformats.org/officeDocument/2006/relationships" id="256" r:id="Ra996e798b9564318"/>
    <p:sldId xmlns:r="http://schemas.openxmlformats.org/officeDocument/2006/relationships" id="257" r:id="Rafb30353aa6449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cb45a9f9a34ae6" /><Relationship Type="http://schemas.openxmlformats.org/officeDocument/2006/relationships/theme" Target="/ppt/theme/theme1.xml" Id="R04e58d1f16ed4f9a" /><Relationship Type="http://schemas.openxmlformats.org/officeDocument/2006/relationships/notesMaster" Target="/ppt/notesMasters/notesMaster1.xml" Id="R3eed2a8d2d7c46ff" /><Relationship Type="http://schemas.openxmlformats.org/officeDocument/2006/relationships/presProps" Target="/ppt/presProps.xml" Id="R7d241756899c48e1" /><Relationship Type="http://schemas.openxmlformats.org/officeDocument/2006/relationships/viewProps" Target="/ppt/viewProps.xml" Id="R32328dc2e1754ab9" /><Relationship Type="http://schemas.openxmlformats.org/officeDocument/2006/relationships/tableStyles" Target="/ppt/tableStyles.xml" Id="R6904410d1be343a3" /><Relationship Type="http://schemas.openxmlformats.org/officeDocument/2006/relationships/slide" Target="/ppt/slides/slide1.xml" Id="Ra996e798b9564318" /><Relationship Type="http://schemas.openxmlformats.org/officeDocument/2006/relationships/slide" Target="/ppt/slides/slide2.xml" Id="Rafb30353aa6449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25ec860062349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db17983bc74e1d" /><Relationship Type="http://schemas.openxmlformats.org/officeDocument/2006/relationships/notesMaster" Target="/ppt/notesMasters/notesMaster1.xml" Id="R91ac527a00bc49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c9d48083c04651" /><Relationship Type="http://schemas.openxmlformats.org/officeDocument/2006/relationships/notesMaster" Target="/ppt/notesMasters/notesMaster1.xml" Id="R47e35900c66644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996194d6a4a2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32bd4e8717d4879" /><Relationship Type="http://schemas.openxmlformats.org/officeDocument/2006/relationships/slideLayout" Target="/ppt/slideLayouts/slideLayout2.xml" Id="R61fa9e052f4d45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fa9e052f4d45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6d405ccfb64b9b" /><Relationship Type="http://schemas.openxmlformats.org/officeDocument/2006/relationships/notesSlide" Target="/ppt/notesSlides/notesSlide1.xml" Id="Rd6a754b0c06947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dda1275ff54ce8" /><Relationship Type="http://schemas.openxmlformats.org/officeDocument/2006/relationships/notesSlide" Target="/ppt/notesSlides/notesSlide2.xml" Id="R306a886d8fad4f6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B33ED4-AE3C-4E83-8515-5E1E4D40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92DBC-11FB-491E-BDC0-484B06CB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EEB60-1FF2-4168-9E97-4C5DE8BF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6F3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6F32"/>
                </a:solidFill>
                <a:latin typeface="Aptos"/>
                <a:ea typeface="Aptos"/>
                <a:cs typeface="Aptos"/>
              </a:rPr>
              <a:t>企画提案 / MVP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3FB33-75A3-48AC-972A-55412428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0100"/>
            <a:ext cx="6572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感覚で決めるUI/UXを、</a:t>
            </a:r>
          </a:p>
          <a:p xmlns:a="http://schemas.openxmlformats.org/drawingml/2006/main">
            <a:pPr algn="l">
              <a:defRPr sz="29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調査前に検証できる仮説へ変える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BA0EF-FE29-4937-AC1A-9B1BF410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6191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ユーザーアンケートやユーザー調査がすぐに実施できない現場でも、AIペルソナでA/B案の賛否・懸念・確認すべき論点を先に可視化する。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A494F-4E0A-455C-B70B-75D21AF8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238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6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39B9B6-7F20-483B-A135-A6FB519B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F96A0-24DC-476E-B484-FA8D94FF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現実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83991D-3D18-48FA-BB31-DDC2F7E0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28194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UI/UX・キャンペーンの判断が、社内の経験値や声の大きさに寄りやすい。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C9FB-32B3-481F-AF04-925F61C4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86100"/>
            <a:ext cx="3238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6C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730E4-E670-4D17-9AB2-D06E7B7D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8610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441F4A-EA01-421E-AAEA-F0731A6F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5280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理由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76A13-85FE-416A-B473-C979FD59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90950"/>
            <a:ext cx="28194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調査設計、対象者集め、日程調整、情報管理の負荷が高く、短サイクルで回しにくい。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931C5B-4CE0-4220-9F37-5E633DE1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86100"/>
            <a:ext cx="3238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6C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01E39F-76F8-4F3A-99FB-74ACD9A3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8610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B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86E68A-8247-494A-AB6F-19463698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5280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必要な一手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7C8286-0266-4D71-B68B-90299A94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90950"/>
            <a:ext cx="28194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本調査の前に、検証すべき仮説と質問を素早く作る仕組みが必要。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0E09D3-FF75-4DD6-914A-461AFAC7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AIペルソナUXレビュー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3B420F-9165-4974-BF88-2127A726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704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位置づけ: ユーザー調査の代替ではなく、調査前の仮説生成・上長レビュー前の壁打ち・改善案の優先順位づけを支援する社内ツール。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FCB8FB-601A-4BE1-B0D7-8EEC32A2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467350"/>
            <a:ext cx="2990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F8F64B-6236-4D7F-ACCA-80AA15D3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6578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MVP: 銀行アプリA/Bデモ公開済み</a:t>
            </a:r>
          </a:p>
        </p:txBody>
      </p:sp>
    </p:spTree>
    <p:extLst>
      <p:ext uri="{BB962C8B-B14F-4D97-AF65-F5344CB8AC3E}">
        <p14:creationId xmlns:p14="http://schemas.microsoft.com/office/powerpoint/2010/main" val="11231872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5B3B37-4964-4D25-89BF-7F75DC33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4A61B-5A49-4870-AECE-02859C3B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8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6F8F"/>
                </a:solidFill>
                <a:latin typeface="Aptos"/>
                <a:ea typeface="Aptos"/>
                <a:cs typeface="Aptos"/>
              </a:rPr>
              <a:t>実現イメージ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2A2E23-361D-4082-9CE7-2B6706BB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685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OpenAI連携で、A/B案から</a:t>
            </a:r>
          </a:p>
          <a:p xmlns:a="http://schemas.openxmlformats.org/drawingml/2006/main">
            <a:pPr algn="l">
              <a:defRPr sz="25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「誰が・なぜ・何を懸念するか」を構造化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216854-A588-4612-B3C4-43340ABD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71650"/>
            <a:ext cx="609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画像理解、ペルソナ生成、比較レビュー、改善仮説、質問票ドラフトまでを一連のワークフローにする。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D1FB0-D4EB-4AA7-91CB-2305E2B5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18097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6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C2317-7512-4EE7-86E7-F688763C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5A76A-611B-459D-8EA1-BD4305E4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38475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9D849-E425-4C1D-922F-F3F9F09C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A/B案投入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3667A-1399-4DDD-BF4F-EAAF75ED7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UI画像・キャンペーン案・評価したい観点を入力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305E9-870C-44FD-B26F-2D94CC22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225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5D160-B3A7-43D2-81CD-FF7EA257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81300"/>
            <a:ext cx="18097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6C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9D37E5-8B61-4E02-B5A2-A9050D2C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9527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998F27-F2E0-42C0-BEB3-34E98F28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38475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E008B-7DE8-4BA5-972C-111A5E99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861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AIペルソナ生成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56E558-B64F-4683-9416-BDE562C7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84810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マス個人20人から属性別・関係者ペルソナへ拡張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09C205-E11D-4100-BA67-34B9DDB5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6235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225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224B8A-0780-42BD-BAB3-CED40461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81300"/>
            <a:ext cx="18097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6C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B53344-B564-408D-BD13-CC01D4C0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527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B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047FE0-8030-4C9C-AE0D-F18A6689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38475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0FA661-E31B-4123-A8B8-2EC0FA12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61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比較レビュー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FC7F44-116B-4AE8-8E51-484E817E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支持理由、違和感、離脱要因、確認したい情報を抽出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C3CA75-46A6-4F9C-BDB0-0980E8F0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6235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225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F932A8-C332-40D2-A2C1-BDBDB0F8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81300"/>
            <a:ext cx="18097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6C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52304C-68FD-489A-84E9-C03C6C9B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527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5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49BF73-569F-4D33-BC36-2B231E6E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38475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AC5A54-5FC5-450D-A319-E8F20BAE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861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仮説化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D1A97B-B49F-4626-9AC3-11B09C8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4810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改善案、調査質問、上長/取引先への事前壁打ちへ展開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535917-02A6-43E7-A409-8185A202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241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5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AC069B-A9A1-438D-ADC3-BD2B0DFF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09900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OpenAI 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840D02-04D3-47D4-B420-A0FB13AF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DE9E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DE9E4"/>
                </a:solidFill>
                <a:latin typeface="Aptos"/>
                <a:ea typeface="Aptos"/>
                <a:cs typeface="Aptos"/>
              </a:rPr>
              <a:t>画像理解</a:t>
            </a:r>
          </a:p>
          <a:p xmlns:a="http://schemas.openxmlformats.org/drawingml/2006/main">
            <a:pPr algn="l">
              <a:defRPr sz="1275" b="0">
                <a:solidFill>
                  <a:srgbClr val="DDE9E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DE9E4"/>
                </a:solidFill>
                <a:latin typeface="Aptos"/>
                <a:ea typeface="Aptos"/>
                <a:cs typeface="Aptos"/>
              </a:rPr>
              <a:t>レビュー生成</a:t>
            </a:r>
          </a:p>
          <a:p xmlns:a="http://schemas.openxmlformats.org/drawingml/2006/main">
            <a:pPr algn="l">
              <a:defRPr sz="1275" b="0">
                <a:solidFill>
                  <a:srgbClr val="DDE9E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DE9E4"/>
                </a:solidFill>
                <a:latin typeface="Aptos"/>
                <a:ea typeface="Aptos"/>
                <a:cs typeface="Aptos"/>
              </a:rPr>
              <a:t>根拠の構造化</a:t>
            </a:r>
          </a:p>
          <a:p xmlns:a="http://schemas.openxmlformats.org/drawingml/2006/main">
            <a:pPr algn="l">
              <a:defRPr sz="1275" b="0">
                <a:solidFill>
                  <a:srgbClr val="DDE9E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DE9E4"/>
                </a:solidFill>
                <a:latin typeface="Aptos"/>
                <a:ea typeface="Aptos"/>
                <a:cs typeface="Aptos"/>
              </a:rPr>
              <a:t>改善案と質問票生成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4D3B3E-CE56-42ED-B227-D559F96B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0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6F3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6F32"/>
                </a:solidFill>
                <a:latin typeface="Aptos"/>
                <a:ea typeface="Aptos"/>
                <a:cs typeface="Aptos"/>
              </a:rPr>
              <a:t>MVPで作る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988641-A54F-491E-91A9-682CD93B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1020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F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95FEC6-B709-491F-9F8E-7CE1729A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銀行アプリA/Bデモ、20人モード、サマリ、ペルソナ別コメント、Netlify公開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AC06E5-0F21-42E1-95B0-D2FCBA23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010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F8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6F8F"/>
                </a:solidFill>
                <a:latin typeface="Aptos"/>
                <a:ea typeface="Aptos"/>
                <a:cs typeface="Aptos"/>
              </a:rPr>
              <a:t>社内AI部門に依頼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31DD4F-5230-4009-A1ED-0292661D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1020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14F15E-6A45-4A39-88AC-BC87A471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816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OpenAI接続、プロンプト評価、安全な画像処理、利用ログと権限管理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8E0404-844C-48E3-A46E-6BBB9D70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010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D6B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4D6B57"/>
                </a:solidFill>
                <a:latin typeface="Aptos"/>
                <a:ea typeface="Aptos"/>
                <a:cs typeface="Aptos"/>
              </a:rPr>
              <a:t>将来広げる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CB2699-010B-4FFA-9E7F-4921A1CE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1020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B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2019F5-DCBD-466D-B804-46070A2E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5816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A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A64"/>
                </a:solidFill>
                <a:latin typeface="Aptos"/>
                <a:ea typeface="Aptos"/>
                <a:cs typeface="Aptos"/>
              </a:rPr>
              <a:t>100/1000人モード、シニア/富裕層/法人担当者、上司・取引先ペルソナ</a:t>
            </a:r>
          </a:p>
        </p:txBody>
      </p:sp>
    </p:spTree>
    <p:extLst>
      <p:ext uri="{BB962C8B-B14F-4D97-AF65-F5344CB8AC3E}">
        <p14:creationId xmlns:p14="http://schemas.microsoft.com/office/powerpoint/2010/main" val="5150102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2026-05-07T13:13:32.8690000Z</dcterms:created>
  <dcterms:modified xsi:type="dcterms:W3CDTF">2026-05-07T13:13:32.8690000Z</dcterms:modified>
</coreProperties>
</file>