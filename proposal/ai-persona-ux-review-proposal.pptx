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703d832e934e26" /><Relationship Type="http://schemas.openxmlformats.org/officeDocument/2006/relationships/extended-properties" Target="/docProps/app.xml" Id="R1795222410c74834" /><Relationship Type="http://schemas.openxmlformats.org/officeDocument/2006/relationships/officeDocument" Target="/ppt/presentation.xml" Id="R92273d6c0d6d44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8da916aedd4077"/>
  </p:sldMasterIdLst>
  <p:notesMasterIdLst>
    <p:notesMasterId xmlns:r="http://schemas.openxmlformats.org/officeDocument/2006/relationships" r:id="Rcb713aa3023a479c"/>
  </p:notesMasterIdLst>
  <p:sldIdLst>
    <p:sldId xmlns:r="http://schemas.openxmlformats.org/officeDocument/2006/relationships" id="256" r:id="R8dbd4ff0e37d44ed"/>
    <p:sldId xmlns:r="http://schemas.openxmlformats.org/officeDocument/2006/relationships" id="257" r:id="R6fd67ad1f65848f3"/>
    <p:sldId xmlns:r="http://schemas.openxmlformats.org/officeDocument/2006/relationships" id="258" r:id="R171d5c6132904f8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8da916aedd4077" /><Relationship Type="http://schemas.openxmlformats.org/officeDocument/2006/relationships/theme" Target="/ppt/theme/theme1.xml" Id="R62e7ec8ebbd64a13" /><Relationship Type="http://schemas.openxmlformats.org/officeDocument/2006/relationships/notesMaster" Target="/ppt/notesMasters/notesMaster1.xml" Id="Rcb713aa3023a479c" /><Relationship Type="http://schemas.openxmlformats.org/officeDocument/2006/relationships/presProps" Target="/ppt/presProps.xml" Id="Rd492fa0345b44765" /><Relationship Type="http://schemas.openxmlformats.org/officeDocument/2006/relationships/viewProps" Target="/ppt/viewProps.xml" Id="R1db2adaffd7442e8" /><Relationship Type="http://schemas.openxmlformats.org/officeDocument/2006/relationships/tableStyles" Target="/ppt/tableStyles.xml" Id="Rc1143839cfaa42a3" /><Relationship Type="http://schemas.openxmlformats.org/officeDocument/2006/relationships/slide" Target="/ppt/slides/slide1.xml" Id="R8dbd4ff0e37d44ed" /><Relationship Type="http://schemas.openxmlformats.org/officeDocument/2006/relationships/slide" Target="/ppt/slides/slide2.xml" Id="R6fd67ad1f65848f3" /><Relationship Type="http://schemas.openxmlformats.org/officeDocument/2006/relationships/slide" Target="/ppt/slides/slide3.xml" Id="R171d5c6132904f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5f307cd8d8440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c38294ebd6422f" /><Relationship Type="http://schemas.openxmlformats.org/officeDocument/2006/relationships/notesMaster" Target="/ppt/notesMasters/notesMaster1.xml" Id="R1590c9059f9e47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5b29d44b194fd2" /><Relationship Type="http://schemas.openxmlformats.org/officeDocument/2006/relationships/notesMaster" Target="/ppt/notesMasters/notesMaster1.xml" Id="R79f7d228703a4d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c22642f81f4db3" /><Relationship Type="http://schemas.openxmlformats.org/officeDocument/2006/relationships/notesMaster" Target="/ppt/notesMasters/notesMaster1.xml" Id="Ra197ad204eba4a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a9141eea35438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9948ae3e0ef446a" /><Relationship Type="http://schemas.openxmlformats.org/officeDocument/2006/relationships/slideLayout" Target="/ppt/slideLayouts/slideLayout2.xml" Id="R3b28ce00659844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28ce00659844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19dd98d8c14ac6" /><Relationship Type="http://schemas.openxmlformats.org/officeDocument/2006/relationships/notesSlide" Target="/ppt/notesSlides/notesSlide1.xml" Id="R16644357d67b40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16121713264d77" /><Relationship Type="http://schemas.openxmlformats.org/officeDocument/2006/relationships/notesSlide" Target="/ppt/notesSlides/notesSlide2.xml" Id="Rf4b8a6388e1d4e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87b1bf03c142e2" /><Relationship Type="http://schemas.openxmlformats.org/officeDocument/2006/relationships/notesSlide" Target="/ppt/notesSlides/notesSlide3.xml" Id="Re8760f5c960246f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646F80-B419-4682-95F5-56E12E73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6EDD30-8C7A-430C-9D03-0FD65F9F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CDE062-CF6C-4C69-BD54-97681DF9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F8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6F8F"/>
                </a:solidFill>
                <a:latin typeface="Aptos"/>
                <a:ea typeface="Aptos"/>
                <a:cs typeface="Aptos"/>
              </a:rPr>
              <a:t>背景・課題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06A23-C325-4DA9-A7B3-2A2D1C63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6858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D1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51D1A"/>
                </a:solidFill>
                <a:latin typeface="Aptos"/>
                <a:ea typeface="Aptos"/>
                <a:cs typeface="Aptos"/>
              </a:rPr>
              <a:t>UI/UX判断が「社内の感覚」に寄る構造を、</a:t>
            </a:r>
          </a:p>
          <a:p xmlns:a="http://schemas.openxmlformats.org/drawingml/2006/main">
            <a:pPr algn="l">
              <a:defRPr sz="2550" b="1">
                <a:solidFill>
                  <a:srgbClr val="151D1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51D1A"/>
                </a:solidFill>
                <a:latin typeface="Aptos"/>
                <a:ea typeface="Aptos"/>
                <a:cs typeface="Aptos"/>
              </a:rPr>
              <a:t>調査前の仮説検証で補正する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0D255-DE02-4423-B6AC-832E0A2A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81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ユーザー調査は重要だが、日程・対象者・設計・情報管理の負荷が高く、UI改善やキャンペーン検討のスピードに追いつきにくい。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F38AEA-3D70-4819-89BB-4DBE92F8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09600"/>
            <a:ext cx="3238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E82DCC-AC47-48A2-ACF6-32772E59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763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D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1D1A"/>
                </a:solidFill>
                <a:latin typeface="Aptos"/>
                <a:ea typeface="Aptos"/>
                <a:cs typeface="Aptos"/>
              </a:rPr>
              <a:t>結果として起きること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AB225-F34B-4505-BCC0-DB9FE5EF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7635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誰の感覚を採用するか、何を検証すべきかが曖昧なまま意思決定が進む。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CB3F79-01C0-452F-8D8C-012F60F6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2724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B7FE0B-23C2-43A3-9DD8-89F344ED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2209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社内感覚に依存した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UI/UX判断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7BEAE9-5966-4E62-A9BD-1BD415CF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114800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5778A5-8182-4C22-B63D-2503C04A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1940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75AAA6-366F-4C94-B096-E9EFD081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194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F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080AB3-9669-40CB-A4B7-C2D52355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0099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D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1D1A"/>
                </a:solidFill>
                <a:latin typeface="Aptos"/>
                <a:ea typeface="Aptos"/>
                <a:cs typeface="Aptos"/>
              </a:rPr>
              <a:t>調査が重い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56EA3C-1717-4540-AF87-3BEC3745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3718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対象者集め・日程調整・設問設計に時間がかかる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17D11F-DFE1-4C10-BE42-B3B04161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114800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3269B0-413A-4DA5-B259-79028BF8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4815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D8457A-E61C-4B8F-8E01-DE6693AE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4815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713029-80FF-4D1F-BCB0-2A983307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4386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D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1D1A"/>
                </a:solidFill>
                <a:latin typeface="Aptos"/>
                <a:ea typeface="Aptos"/>
                <a:cs typeface="Aptos"/>
              </a:rPr>
              <a:t>論点が粗い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C0AD2C-0B70-4976-8D0C-EADDE80F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80060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何を聞けばよいか、どの仮説を検証すべきかが曖昧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8C6D3A-3A7B-4E86-8FD1-3DC8A576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114800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7B14E5-2C9E-4171-A3C0-9E15FEA9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67690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659B1C-B828-4A24-B80F-CF8461BA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6769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804618-91A6-4F25-9EA8-88865F96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8674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D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1D1A"/>
                </a:solidFill>
                <a:latin typeface="Aptos"/>
                <a:ea typeface="Aptos"/>
                <a:cs typeface="Aptos"/>
              </a:rPr>
              <a:t>レビューが属人的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75FB47-1479-40E7-902F-6DF4A055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62293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上司・関係者・取引先の観点を事前に想定しにくい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1C62E4-C5E7-405B-A726-D52B21CE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19400"/>
            <a:ext cx="31432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5A8B18-98AB-4372-B20A-F6D53AF5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861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D1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1D1A"/>
                </a:solidFill>
                <a:latin typeface="Aptos"/>
                <a:ea typeface="Aptos"/>
                <a:cs typeface="Aptos"/>
              </a:rPr>
              <a:t>提案の前提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31D1CB-8682-41DB-B93C-08BF9DCE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F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3F6478-748A-4BEA-9BCB-368DCE92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90950"/>
            <a:ext cx="2381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AIはユーザー調査の代替ではない。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ただし、調査前に論点を洗い出し、仮説と質問票を作る用途では十分に価値がある。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CC9300-C2D9-4EA2-9C1B-397FF51F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625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1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1E"/>
                </a:solidFill>
                <a:latin typeface="Aptos"/>
                <a:ea typeface="Aptos"/>
                <a:cs typeface="Aptos"/>
              </a:rPr>
              <a:t>まずは社内機密・実顧客データを使わないMVPで、判断品質と業務スピードの改善余地を検証する。</a:t>
            </a:r>
          </a:p>
        </p:txBody>
      </p:sp>
    </p:spTree>
    <p:extLst>
      <p:ext uri="{BB962C8B-B14F-4D97-AF65-F5344CB8AC3E}">
        <p14:creationId xmlns:p14="http://schemas.microsoft.com/office/powerpoint/2010/main" val="172491213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D0CE6A-587E-4DD3-8253-D60A70FF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59E6DE-9A81-4722-BD17-3FB1D94A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D8FE8A-867B-4B6F-9A26-26ADE15A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F8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6F8F"/>
                </a:solidFill>
                <a:latin typeface="Aptos"/>
                <a:ea typeface="Aptos"/>
                <a:cs typeface="Aptos"/>
              </a:rPr>
              <a:t>解決策・MVP像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0AEB06-EA57-4A21-91E8-C592DE4A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1D1A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51D1A"/>
                </a:solidFill>
                <a:latin typeface="Aptos"/>
                <a:ea typeface="Aptos"/>
                <a:cs typeface="Aptos"/>
              </a:rPr>
              <a:t>評価軸を先に定義し、銀行IB利用者ペルソナで</a:t>
            </a:r>
          </a:p>
          <a:p xmlns:a="http://schemas.openxmlformats.org/drawingml/2006/main">
            <a:pPr algn="l">
              <a:defRPr sz="2475" b="1">
                <a:solidFill>
                  <a:srgbClr val="151D1A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51D1A"/>
                </a:solidFill>
                <a:latin typeface="Aptos"/>
                <a:ea typeface="Aptos"/>
                <a:cs typeface="Aptos"/>
              </a:rPr>
              <a:t>A/B案の「目的別の強弱」を可視化する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8CB38-F355-462C-846D-9AD7E4B2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657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単純な勝敗ではなく、「毎日使いたいか」「毎月確認したいか」「安心して見られるか」など、施策目的に応じた評価軸でレビューする。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2C2B64-9D0E-41C9-9EA2-21C51AC2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05100"/>
            <a:ext cx="33337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0F77C5-018A-4400-9C00-4D0B55E5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D1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1D1A"/>
                </a:solidFill>
                <a:latin typeface="Aptos"/>
                <a:ea typeface="Aptos"/>
                <a:cs typeface="Aptos"/>
              </a:rPr>
              <a:t>母集団設計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537EFF-FE7E-4E81-A5F6-9C292F6C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銀行インターネットバンキング利用者を想定。平均年齢50歳前後の分布で20人を生成。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B97099-B1B5-4F0C-B8ED-AECB0091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20代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036936-F172-4C4F-A3CA-C1B870F2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86225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631513-E6F5-4821-8CEC-C4241DC1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86225"/>
            <a:ext cx="35623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64C9F9-E836-48A2-A0E1-DC1526AF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386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1D1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D1A"/>
                </a:solidFill>
                <a:latin typeface="Aptos"/>
                <a:ea typeface="Aptos"/>
                <a:cs typeface="Aptos"/>
              </a:rPr>
              <a:t>2人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DDDE12-E46D-4B70-B48E-74D840A7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30代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871F8A-27F2-4FEC-8BCC-8F9D714C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91025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D7E872-86F5-4235-BD10-F8467683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91025"/>
            <a:ext cx="55054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466349-67DE-4B11-8276-4353C3B0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434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1D1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D1A"/>
                </a:solidFill>
                <a:latin typeface="Aptos"/>
                <a:ea typeface="Aptos"/>
                <a:cs typeface="Aptos"/>
              </a:rPr>
              <a:t>3人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BC1626-9C98-457B-BF78-516C899F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40代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48F4CF-DE07-46B4-BC4E-A37A5FEB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95825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4AB3D4-9073-4E67-B6A9-8D22C130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95825"/>
            <a:ext cx="74485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58D3D6-56F1-4162-B808-A577DA14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482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1D1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D1A"/>
                </a:solidFill>
                <a:latin typeface="Aptos"/>
                <a:ea typeface="Aptos"/>
                <a:cs typeface="Aptos"/>
              </a:rPr>
              <a:t>4人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CF9B3B-6D05-434E-9EC1-7F00548E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50代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B746F5-7980-4F33-B98D-B049D92D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00625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4199F2-9264-4F94-B7A9-532BB6C7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00625"/>
            <a:ext cx="93916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B0ACF4-1A6B-453B-B6AF-4862F7A0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9530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1D1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D1A"/>
                </a:solidFill>
                <a:latin typeface="Aptos"/>
                <a:ea typeface="Aptos"/>
                <a:cs typeface="Aptos"/>
              </a:rPr>
              <a:t>5人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A363BE-3F7A-4B4F-B2DD-1AD1466F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578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60代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F9990B-35EE-4888-B7D9-4896DFD9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05425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4ED09A-AB78-4E45-9955-C68829A7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05425"/>
            <a:ext cx="74485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29F999-D81A-467D-9DEF-9E2E9216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2578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1D1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D1A"/>
                </a:solidFill>
                <a:latin typeface="Aptos"/>
                <a:ea typeface="Aptos"/>
                <a:cs typeface="Aptos"/>
              </a:rPr>
              <a:t>4人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230C7D-9C47-4789-8804-1988CDB2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626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70代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6E7E16-D569-4A37-BB5F-7BB57BFD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0225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89136C-988E-457D-860A-DDC3A233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0225"/>
            <a:ext cx="35623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F14F00-8224-4183-BD54-A9FFF576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5626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1D1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D1A"/>
                </a:solidFill>
                <a:latin typeface="Aptos"/>
                <a:ea typeface="Aptos"/>
                <a:cs typeface="Aptos"/>
              </a:rPr>
              <a:t>2人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0911C6-1EF3-4164-8827-CEDCB38E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05100"/>
            <a:ext cx="36195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D30440-750E-4725-81F2-A0E1FF15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718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D1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1D1A"/>
                </a:solidFill>
                <a:latin typeface="Aptos"/>
                <a:ea typeface="Aptos"/>
                <a:cs typeface="Aptos"/>
              </a:rPr>
              <a:t>評価軸は可変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759A83-BE02-4E22-AE88-7566AB3E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67100"/>
            <a:ext cx="1371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D96F3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72014A-4487-4C5E-9F6F-B8E90B9E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9092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D1A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D1A"/>
                </a:solidFill>
                <a:latin typeface="Aptos"/>
                <a:ea typeface="Aptos"/>
                <a:cs typeface="Aptos"/>
              </a:rPr>
              <a:t>毎日使いたいか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957DEE-4CE5-40A2-A654-40FAC554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67100"/>
            <a:ext cx="1371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2F6F8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6F433F-44FF-4C51-BE0F-6C0E8271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9092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D1A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D1A"/>
                </a:solidFill>
                <a:latin typeface="Aptos"/>
                <a:ea typeface="Aptos"/>
                <a:cs typeface="Aptos"/>
              </a:rPr>
              <a:t>毎月確認したいか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C55A34-F41F-47C8-BAAB-6AFFCA22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57650"/>
            <a:ext cx="1371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4D6B5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29B014-8A7B-42A9-9CCE-A63FE5C5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814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D1A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D1A"/>
                </a:solidFill>
                <a:latin typeface="Aptos"/>
                <a:ea typeface="Aptos"/>
                <a:cs typeface="Aptos"/>
              </a:rPr>
              <a:t>安心して見られるか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522F02-0BD0-4692-AE74-3B825DE3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57650"/>
            <a:ext cx="1371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10231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CBAC545-2932-40A3-8925-A177D4F2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814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D1A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D1A"/>
                </a:solidFill>
                <a:latin typeface="Aptos"/>
                <a:ea typeface="Aptos"/>
                <a:cs typeface="Aptos"/>
              </a:rPr>
              <a:t>必要な情報に迷わないか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A5F36DF-E81A-456B-9FB4-7F2B071E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48200"/>
            <a:ext cx="1371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2F6F8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5D317B0-E231-42C9-AC34-F4BBF784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77202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D1A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D1A"/>
                </a:solidFill>
                <a:latin typeface="Aptos"/>
                <a:ea typeface="Aptos"/>
                <a:cs typeface="Aptos"/>
              </a:rPr>
              <a:t>支出管理に役立つか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971E2DF-5B84-4DAD-B2B9-DE9DC479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1371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D96F3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A60B405-1474-4C9B-9684-2017A363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77202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D1A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D1A"/>
                </a:solidFill>
                <a:latin typeface="Aptos"/>
                <a:ea typeface="Aptos"/>
                <a:cs typeface="Aptos"/>
              </a:rPr>
              <a:t>キャンペーンに気づくか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C634A0C-FF18-4796-B058-B246D2BA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42925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31E"/>
                </a:solidFill>
                <a:latin typeface="Aptos"/>
                <a:ea typeface="Aptos"/>
                <a:cs typeface="Aptos"/>
              </a:rPr>
              <a:t>施策目的が変われば評価軸も変える。送金完了率だけを目的にしない。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FAEF8B1-2674-49AD-A0FD-4AC250DE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05100"/>
            <a:ext cx="33337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FBBA9FF-0F62-4C13-AAD2-E4A7D332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718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D1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1D1A"/>
                </a:solidFill>
                <a:latin typeface="Aptos"/>
                <a:ea typeface="Aptos"/>
                <a:cs typeface="Aptos"/>
              </a:rPr>
              <a:t>出力イメージ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AFD489A-1E66-4366-8C21-138A1E9D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861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F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CC29214-0D05-44EF-8759-17592857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52825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77F22F3-0F3D-43CC-B505-7BB1C330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861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D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D1A"/>
                </a:solidFill>
                <a:latin typeface="Aptos"/>
                <a:ea typeface="Aptos"/>
                <a:cs typeface="Aptos"/>
              </a:rPr>
              <a:t>案A/Bの目的別スコア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B3D2ECA-07D0-4FD9-8998-BEFC8102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528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勝敗ではなく、利用頻度・安心感・行動理解の強弱を出す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BF06911-0848-4D4C-B669-2E0062E2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672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C302776-4200-4778-A29F-C9830D40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33875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E507681-46D0-4503-9273-0B452C43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672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D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D1A"/>
                </a:solidFill>
                <a:latin typeface="Aptos"/>
                <a:ea typeface="Aptos"/>
                <a:cs typeface="Aptos"/>
              </a:rPr>
              <a:t>ペルソナ別コメント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ABA1A6E-AC4B-4ABC-BF50-7E9F28D7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339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年齢・利用頻度・金融リテラシーごとの違和感を抽出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6021551-25DF-4D8A-BF59-BE750855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048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EFDB546-B800-4BCF-86FB-A1E780E6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114925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05EEDB0-8795-44F7-AB77-3304EFAB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482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D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D1A"/>
                </a:solidFill>
                <a:latin typeface="Aptos"/>
                <a:ea typeface="Aptos"/>
                <a:cs typeface="Aptos"/>
              </a:rPr>
              <a:t>次の検証仮説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612A9FF-2E59-4508-B41F-3ED4C01F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3149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ハイブリッド案、質問票、調査対象のたたき台を生成</a:t>
            </a:r>
          </a:p>
        </p:txBody>
      </p:sp>
    </p:spTree>
    <p:extLst>
      <p:ext uri="{BB962C8B-B14F-4D97-AF65-F5344CB8AC3E}">
        <p14:creationId xmlns:p14="http://schemas.microsoft.com/office/powerpoint/2010/main" val="123269460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86134A-2FA3-4741-AA7D-62F6DFFA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167C44-5FF8-4B2D-9AEB-BA06A319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8A2DF3-8A97-4551-BE97-63F0B984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F8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6F8F"/>
                </a:solidFill>
                <a:latin typeface="Aptos"/>
                <a:ea typeface="Aptos"/>
                <a:cs typeface="Aptos"/>
              </a:rPr>
              <a:t>依頼事項・進め方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F67C6B-3F8A-4893-AFC6-BA12BCA9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D1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51D1A"/>
                </a:solidFill>
                <a:latin typeface="Aptos"/>
                <a:ea typeface="Aptos"/>
                <a:cs typeface="Aptos"/>
              </a:rPr>
              <a:t>まずは機密データを使わないMVPで、</a:t>
            </a:r>
          </a:p>
          <a:p xmlns:a="http://schemas.openxmlformats.org/drawingml/2006/main">
            <a:pPr algn="l">
              <a:defRPr sz="2550" b="1">
                <a:solidFill>
                  <a:srgbClr val="151D1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51D1A"/>
                </a:solidFill>
                <a:latin typeface="Aptos"/>
                <a:ea typeface="Aptos"/>
                <a:cs typeface="Aptos"/>
              </a:rPr>
              <a:t>判断品質が上がるかを小さく検証したい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DEDBED-ADDF-47FA-9A84-BB3AF6A7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666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依頼したいのは大規模開発ではなく、OpenAI連携の実現性確認と、業務で使えるアウトプット品質の検証。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827F84-541E-4338-825B-C8C1810B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3371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34B74D-37FC-49F0-8247-1E831C26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3371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F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67B705-3E0E-4AA9-8B34-D1857F93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6F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6F32"/>
                </a:solidFill>
                <a:latin typeface="Aptos"/>
                <a:ea typeface="Aptos"/>
                <a:cs typeface="Aptos"/>
              </a:rPr>
              <a:t>依頼1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5D9ECF-C5A9-46AD-84F9-9DB2DD8D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D1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1D1A"/>
                </a:solidFill>
                <a:latin typeface="Aptos"/>
                <a:ea typeface="Aptos"/>
                <a:cs typeface="Aptos"/>
              </a:rPr>
              <a:t>OpenAI連携の技術検証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190D2D-7646-4427-94D7-06378CDF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画像A/Bを読み取り、評価軸別にレビューを構造化できるか検証する。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FE686C-1139-4A61-9772-6E58A54B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81300"/>
            <a:ext cx="3371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A92610-CD54-44FC-9023-2752A316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81300"/>
            <a:ext cx="3371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D2493E-87ED-4F24-A35F-B97521E9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670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F8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6F8F"/>
                </a:solidFill>
                <a:latin typeface="Aptos"/>
                <a:ea typeface="Aptos"/>
                <a:cs typeface="Aptos"/>
              </a:rPr>
              <a:t>依頼2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FA9F78-6AC1-4923-820A-353655D6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718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D1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1D1A"/>
                </a:solidFill>
                <a:latin typeface="Aptos"/>
                <a:ea typeface="Aptos"/>
                <a:cs typeface="Aptos"/>
              </a:rPr>
              <a:t>プロンプト・評価設計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ACE6E3-91F7-4F11-9A2C-83D32D11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71900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銀行IB利用者の母集団、評価軸、出力形式をテンプレート化する。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651D1C-EB94-41D9-8A59-482A79D9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81300"/>
            <a:ext cx="3371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8B6538-9A23-4DDE-B8BD-3869F478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81300"/>
            <a:ext cx="3371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D4C17F-B2B6-4B00-AA4E-657861C5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670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6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D6B57"/>
                </a:solidFill>
                <a:latin typeface="Aptos"/>
                <a:ea typeface="Aptos"/>
                <a:cs typeface="Aptos"/>
              </a:rPr>
              <a:t>依頼3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7133D6-C8E8-4E2D-9A80-C296AF5B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718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D1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1D1A"/>
                </a:solidFill>
                <a:latin typeface="Aptos"/>
                <a:ea typeface="Aptos"/>
                <a:cs typeface="Aptos"/>
              </a:rPr>
              <a:t>安全な運用設計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03FD79-464C-4BEF-BB1F-194E4F66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71900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社内機密画像・実顧客データを扱わない前提で、ログ・権限・保存範囲を決める。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D7F50D-8586-4F36-80B9-66516739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95850"/>
            <a:ext cx="7239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BBE15C-0B02-4E75-9D79-1976CAC0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D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1D1A"/>
                </a:solidFill>
                <a:latin typeface="Aptos"/>
                <a:ea typeface="Aptos"/>
                <a:cs typeface="Aptos"/>
              </a:rPr>
              <a:t>初期検証スコープ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E51D2E-B6A9-4F22-BA00-4714E92F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62600"/>
            <a:ext cx="628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対象: 銀行アプリトップページA/B  |  母集団: 銀行IB利用者20人  |  評価軸: 毎日利用・月次確認・安心感・情報探索性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87BA87-8C65-4875-BD47-B56DF36A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95850"/>
            <a:ext cx="33528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6F0427-AD68-4E37-BA7E-2AF085A2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1625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判断したいこと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DF74D0-FEB8-46B6-AC0F-DB574657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543550"/>
            <a:ext cx="2609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DE9E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DE9E4"/>
                </a:solidFill>
                <a:latin typeface="Aptos"/>
                <a:ea typeface="Aptos"/>
                <a:cs typeface="Aptos"/>
              </a:rPr>
              <a:t>本調査前の仮説品質と社内レビュー準備時間を、実務に耐えるレベルで改善できるか。</a:t>
            </a:r>
          </a:p>
        </p:txBody>
      </p:sp>
    </p:spTree>
    <p:extLst>
      <p:ext uri="{BB962C8B-B14F-4D97-AF65-F5344CB8AC3E}">
        <p14:creationId xmlns:p14="http://schemas.microsoft.com/office/powerpoint/2010/main" val="12720938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2026-05-07T13:34:59.7540000Z</dcterms:created>
  <dcterms:modified xsi:type="dcterms:W3CDTF">2026-05-07T13:34:59.7540000Z</dcterms:modified>
</coreProperties>
</file>